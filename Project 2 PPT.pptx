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38"/>
  </p:notesMasterIdLst>
  <p:sldIdLst>
    <p:sldId id="258" r:id="rId2"/>
    <p:sldId id="259" r:id="rId3"/>
    <p:sldId id="261" r:id="rId4"/>
    <p:sldId id="263" r:id="rId5"/>
    <p:sldId id="264" r:id="rId6"/>
    <p:sldId id="324" r:id="rId7"/>
    <p:sldId id="265" r:id="rId8"/>
    <p:sldId id="365" r:id="rId9"/>
    <p:sldId id="366" r:id="rId10"/>
    <p:sldId id="274" r:id="rId11"/>
    <p:sldId id="368" r:id="rId12"/>
    <p:sldId id="376" r:id="rId13"/>
    <p:sldId id="377" r:id="rId14"/>
    <p:sldId id="378" r:id="rId15"/>
    <p:sldId id="312" r:id="rId16"/>
    <p:sldId id="394" r:id="rId17"/>
    <p:sldId id="362" r:id="rId18"/>
    <p:sldId id="388" r:id="rId19"/>
    <p:sldId id="389" r:id="rId20"/>
    <p:sldId id="390" r:id="rId21"/>
    <p:sldId id="391" r:id="rId22"/>
    <p:sldId id="392" r:id="rId23"/>
    <p:sldId id="269" r:id="rId24"/>
    <p:sldId id="393" r:id="rId25"/>
    <p:sldId id="370" r:id="rId26"/>
    <p:sldId id="371" r:id="rId27"/>
    <p:sldId id="372" r:id="rId28"/>
    <p:sldId id="373" r:id="rId29"/>
    <p:sldId id="379" r:id="rId30"/>
    <p:sldId id="380" r:id="rId31"/>
    <p:sldId id="381" r:id="rId32"/>
    <p:sldId id="382" r:id="rId33"/>
    <p:sldId id="383" r:id="rId34"/>
    <p:sldId id="384" r:id="rId35"/>
    <p:sldId id="385" r:id="rId36"/>
    <p:sldId id="386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883" autoAdjust="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4925F-63C4-455E-80FA-B3311BE4FB3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B82DB-3AA3-42D9-B32E-27C1DB3A0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958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55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8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540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023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478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288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55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152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42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258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04CB-7728-4668-AD0E-C01B80B2586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474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E04CB-7728-4668-AD0E-C01B80B2586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4E321-2E90-48C7-98BB-85FB13D63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928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7.xml"/><Relationship Id="rId5" Type="http://schemas.openxmlformats.org/officeDocument/2006/relationships/slide" Target="slide26.xml"/><Relationship Id="rId4" Type="http://schemas.openxmlformats.org/officeDocument/2006/relationships/slide" Target="slide2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34.xml"/><Relationship Id="rId3" Type="http://schemas.openxmlformats.org/officeDocument/2006/relationships/slide" Target="slide29.xml"/><Relationship Id="rId7" Type="http://schemas.openxmlformats.org/officeDocument/2006/relationships/slide" Target="slide33.xml"/><Relationship Id="rId12" Type="http://schemas.openxmlformats.org/officeDocument/2006/relationships/slide" Target="slide2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2.xml"/><Relationship Id="rId11" Type="http://schemas.openxmlformats.org/officeDocument/2006/relationships/slide" Target="slide28.xml"/><Relationship Id="rId5" Type="http://schemas.openxmlformats.org/officeDocument/2006/relationships/slide" Target="slide31.xml"/><Relationship Id="rId10" Type="http://schemas.openxmlformats.org/officeDocument/2006/relationships/slide" Target="slide27.xml"/><Relationship Id="rId4" Type="http://schemas.openxmlformats.org/officeDocument/2006/relationships/slide" Target="slide30.xml"/><Relationship Id="rId9" Type="http://schemas.openxmlformats.org/officeDocument/2006/relationships/slide" Target="slide2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slide" Target="slide26.xml"/><Relationship Id="rId3" Type="http://schemas.openxmlformats.org/officeDocument/2006/relationships/slide" Target="slide35.xml"/><Relationship Id="rId7" Type="http://schemas.openxmlformats.org/officeDocument/2006/relationships/slide" Target="slide29.xml"/><Relationship Id="rId12" Type="http://schemas.openxmlformats.org/officeDocument/2006/relationships/slide" Target="slide3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7.xml"/><Relationship Id="rId11" Type="http://schemas.openxmlformats.org/officeDocument/2006/relationships/slide" Target="slide33.xml"/><Relationship Id="rId5" Type="http://schemas.openxmlformats.org/officeDocument/2006/relationships/slide" Target="slide25.xml"/><Relationship Id="rId10" Type="http://schemas.openxmlformats.org/officeDocument/2006/relationships/slide" Target="slide32.xml"/><Relationship Id="rId4" Type="http://schemas.openxmlformats.org/officeDocument/2006/relationships/slide" Target="slide36.xml"/><Relationship Id="rId9" Type="http://schemas.openxmlformats.org/officeDocument/2006/relationships/slide" Target="slide31.xml"/><Relationship Id="rId14" Type="http://schemas.openxmlformats.org/officeDocument/2006/relationships/slide" Target="slide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7" Type="http://schemas.openxmlformats.org/officeDocument/2006/relationships/slide" Target="slide2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6.xml"/><Relationship Id="rId5" Type="http://schemas.openxmlformats.org/officeDocument/2006/relationships/slide" Target="slide28.xml"/><Relationship Id="rId4" Type="http://schemas.openxmlformats.org/officeDocument/2006/relationships/slide" Target="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7" Type="http://schemas.openxmlformats.org/officeDocument/2006/relationships/slide" Target="slide2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6.xml"/><Relationship Id="rId5" Type="http://schemas.openxmlformats.org/officeDocument/2006/relationships/slide" Target="slide28.xml"/><Relationship Id="rId4" Type="http://schemas.openxmlformats.org/officeDocument/2006/relationships/slide" Target="slide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7" Type="http://schemas.openxmlformats.org/officeDocument/2006/relationships/slide" Target="slide2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6.xml"/><Relationship Id="rId5" Type="http://schemas.openxmlformats.org/officeDocument/2006/relationships/slide" Target="slide28.xml"/><Relationship Id="rId4" Type="http://schemas.openxmlformats.org/officeDocument/2006/relationships/slide" Target="slide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7" Type="http://schemas.openxmlformats.org/officeDocument/2006/relationships/slide" Target="slide2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6.xml"/><Relationship Id="rId5" Type="http://schemas.openxmlformats.org/officeDocument/2006/relationships/slide" Target="slide28.xml"/><Relationship Id="rId4" Type="http://schemas.openxmlformats.org/officeDocument/2006/relationships/slide" Target="slide2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slide" Target="slide26.xml"/><Relationship Id="rId3" Type="http://schemas.openxmlformats.org/officeDocument/2006/relationships/slide" Target="slide13.xml"/><Relationship Id="rId7" Type="http://schemas.openxmlformats.org/officeDocument/2006/relationships/slide" Target="slide32.xml"/><Relationship Id="rId12" Type="http://schemas.openxmlformats.org/officeDocument/2006/relationships/slide" Target="slide2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11" Type="http://schemas.openxmlformats.org/officeDocument/2006/relationships/slide" Target="slide27.xml"/><Relationship Id="rId5" Type="http://schemas.openxmlformats.org/officeDocument/2006/relationships/slide" Target="slide30.xml"/><Relationship Id="rId10" Type="http://schemas.openxmlformats.org/officeDocument/2006/relationships/slide" Target="slide25.xml"/><Relationship Id="rId4" Type="http://schemas.openxmlformats.org/officeDocument/2006/relationships/slide" Target="slide29.xml"/><Relationship Id="rId9" Type="http://schemas.openxmlformats.org/officeDocument/2006/relationships/slide" Target="slide3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slide" Target="slide26.xml"/><Relationship Id="rId3" Type="http://schemas.openxmlformats.org/officeDocument/2006/relationships/slide" Target="slide13.xml"/><Relationship Id="rId7" Type="http://schemas.openxmlformats.org/officeDocument/2006/relationships/slide" Target="slide32.xml"/><Relationship Id="rId12" Type="http://schemas.openxmlformats.org/officeDocument/2006/relationships/slide" Target="slide2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11" Type="http://schemas.openxmlformats.org/officeDocument/2006/relationships/slide" Target="slide27.xml"/><Relationship Id="rId5" Type="http://schemas.openxmlformats.org/officeDocument/2006/relationships/slide" Target="slide30.xml"/><Relationship Id="rId10" Type="http://schemas.openxmlformats.org/officeDocument/2006/relationships/slide" Target="slide25.xml"/><Relationship Id="rId4" Type="http://schemas.openxmlformats.org/officeDocument/2006/relationships/slide" Target="slide29.xml"/><Relationship Id="rId9" Type="http://schemas.openxmlformats.org/officeDocument/2006/relationships/slide" Target="slide3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slide" Target="slide26.xml"/><Relationship Id="rId3" Type="http://schemas.openxmlformats.org/officeDocument/2006/relationships/slide" Target="slide13.xml"/><Relationship Id="rId7" Type="http://schemas.openxmlformats.org/officeDocument/2006/relationships/slide" Target="slide32.xml"/><Relationship Id="rId12" Type="http://schemas.openxmlformats.org/officeDocument/2006/relationships/slide" Target="slide2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11" Type="http://schemas.openxmlformats.org/officeDocument/2006/relationships/slide" Target="slide27.xml"/><Relationship Id="rId5" Type="http://schemas.openxmlformats.org/officeDocument/2006/relationships/slide" Target="slide30.xml"/><Relationship Id="rId10" Type="http://schemas.openxmlformats.org/officeDocument/2006/relationships/slide" Target="slide25.xml"/><Relationship Id="rId4" Type="http://schemas.openxmlformats.org/officeDocument/2006/relationships/slide" Target="slide29.xml"/><Relationship Id="rId9" Type="http://schemas.openxmlformats.org/officeDocument/2006/relationships/slide" Target="slide3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slide" Target="slide26.xml"/><Relationship Id="rId3" Type="http://schemas.openxmlformats.org/officeDocument/2006/relationships/slide" Target="slide13.xml"/><Relationship Id="rId7" Type="http://schemas.openxmlformats.org/officeDocument/2006/relationships/slide" Target="slide32.xml"/><Relationship Id="rId12" Type="http://schemas.openxmlformats.org/officeDocument/2006/relationships/slide" Target="slide2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11" Type="http://schemas.openxmlformats.org/officeDocument/2006/relationships/slide" Target="slide27.xml"/><Relationship Id="rId5" Type="http://schemas.openxmlformats.org/officeDocument/2006/relationships/slide" Target="slide30.xml"/><Relationship Id="rId10" Type="http://schemas.openxmlformats.org/officeDocument/2006/relationships/slide" Target="slide25.xml"/><Relationship Id="rId4" Type="http://schemas.openxmlformats.org/officeDocument/2006/relationships/slide" Target="slide29.xml"/><Relationship Id="rId9" Type="http://schemas.openxmlformats.org/officeDocument/2006/relationships/slide" Target="slide3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slide" Target="slide26.xml"/><Relationship Id="rId3" Type="http://schemas.openxmlformats.org/officeDocument/2006/relationships/slide" Target="slide13.xml"/><Relationship Id="rId7" Type="http://schemas.openxmlformats.org/officeDocument/2006/relationships/slide" Target="slide32.xml"/><Relationship Id="rId12" Type="http://schemas.openxmlformats.org/officeDocument/2006/relationships/slide" Target="slide2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11" Type="http://schemas.openxmlformats.org/officeDocument/2006/relationships/slide" Target="slide27.xml"/><Relationship Id="rId5" Type="http://schemas.openxmlformats.org/officeDocument/2006/relationships/slide" Target="slide30.xml"/><Relationship Id="rId10" Type="http://schemas.openxmlformats.org/officeDocument/2006/relationships/slide" Target="slide25.xml"/><Relationship Id="rId4" Type="http://schemas.openxmlformats.org/officeDocument/2006/relationships/slide" Target="slide29.xml"/><Relationship Id="rId9" Type="http://schemas.openxmlformats.org/officeDocument/2006/relationships/slide" Target="slide3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slide" Target="slide26.xml"/><Relationship Id="rId3" Type="http://schemas.openxmlformats.org/officeDocument/2006/relationships/slide" Target="slide13.xml"/><Relationship Id="rId7" Type="http://schemas.openxmlformats.org/officeDocument/2006/relationships/slide" Target="slide32.xml"/><Relationship Id="rId12" Type="http://schemas.openxmlformats.org/officeDocument/2006/relationships/slide" Target="slide2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11" Type="http://schemas.openxmlformats.org/officeDocument/2006/relationships/slide" Target="slide27.xml"/><Relationship Id="rId5" Type="http://schemas.openxmlformats.org/officeDocument/2006/relationships/slide" Target="slide30.xml"/><Relationship Id="rId10" Type="http://schemas.openxmlformats.org/officeDocument/2006/relationships/slide" Target="slide25.xml"/><Relationship Id="rId4" Type="http://schemas.openxmlformats.org/officeDocument/2006/relationships/slide" Target="slide29.xml"/><Relationship Id="rId9" Type="http://schemas.openxmlformats.org/officeDocument/2006/relationships/slide" Target="slide3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slide" Target="slide34.xml"/><Relationship Id="rId3" Type="http://schemas.openxmlformats.org/officeDocument/2006/relationships/slide" Target="slide14.xml"/><Relationship Id="rId7" Type="http://schemas.openxmlformats.org/officeDocument/2006/relationships/slide" Target="slide27.xml"/><Relationship Id="rId12" Type="http://schemas.openxmlformats.org/officeDocument/2006/relationships/slide" Target="slide3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5.xml"/><Relationship Id="rId11" Type="http://schemas.openxmlformats.org/officeDocument/2006/relationships/slide" Target="slide32.xml"/><Relationship Id="rId5" Type="http://schemas.openxmlformats.org/officeDocument/2006/relationships/slide" Target="slide36.xml"/><Relationship Id="rId15" Type="http://schemas.openxmlformats.org/officeDocument/2006/relationships/slide" Target="slide28.xml"/><Relationship Id="rId10" Type="http://schemas.openxmlformats.org/officeDocument/2006/relationships/slide" Target="slide31.xml"/><Relationship Id="rId4" Type="http://schemas.openxmlformats.org/officeDocument/2006/relationships/slide" Target="slide35.xml"/><Relationship Id="rId9" Type="http://schemas.openxmlformats.org/officeDocument/2006/relationships/slide" Target="slide30.xml"/><Relationship Id="rId14" Type="http://schemas.openxmlformats.org/officeDocument/2006/relationships/slide" Target="slide26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slide" Target="slide34.xml"/><Relationship Id="rId3" Type="http://schemas.openxmlformats.org/officeDocument/2006/relationships/slide" Target="slide14.xml"/><Relationship Id="rId7" Type="http://schemas.openxmlformats.org/officeDocument/2006/relationships/slide" Target="slide27.xml"/><Relationship Id="rId12" Type="http://schemas.openxmlformats.org/officeDocument/2006/relationships/slide" Target="slide3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5.xml"/><Relationship Id="rId11" Type="http://schemas.openxmlformats.org/officeDocument/2006/relationships/slide" Target="slide32.xml"/><Relationship Id="rId5" Type="http://schemas.openxmlformats.org/officeDocument/2006/relationships/slide" Target="slide36.xml"/><Relationship Id="rId15" Type="http://schemas.openxmlformats.org/officeDocument/2006/relationships/slide" Target="slide28.xml"/><Relationship Id="rId10" Type="http://schemas.openxmlformats.org/officeDocument/2006/relationships/slide" Target="slide31.xml"/><Relationship Id="rId4" Type="http://schemas.openxmlformats.org/officeDocument/2006/relationships/slide" Target="slide35.xml"/><Relationship Id="rId9" Type="http://schemas.openxmlformats.org/officeDocument/2006/relationships/slide" Target="slide30.xml"/><Relationship Id="rId14" Type="http://schemas.openxmlformats.org/officeDocument/2006/relationships/slide" Target="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DD216-C136-99AB-92C5-88504F5A8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8281" y="1567514"/>
            <a:ext cx="8928736" cy="2110381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Performance Analysis of 5G New Radio (5G NR) Transmitter Models Using QAM Modulation Schemes</a:t>
            </a:r>
            <a:endParaRPr lang="en-IN" b="1" dirty="0">
              <a:solidFill>
                <a:srgbClr val="00B0F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96CBEE-9CA0-BD3D-A320-E743A7EDA8EC}"/>
              </a:ext>
            </a:extLst>
          </p:cNvPr>
          <p:cNvSpPr/>
          <p:nvPr/>
        </p:nvSpPr>
        <p:spPr>
          <a:xfrm>
            <a:off x="4429125" y="226003"/>
            <a:ext cx="4295776" cy="112871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lIns="0" tIns="0" rIns="0" bIns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-50" dirty="0">
                <a:latin typeface="Calibri"/>
              </a:rPr>
              <a:t>B. Tech (ECE / BML)</a:t>
            </a:r>
          </a:p>
          <a:p>
            <a:pPr algn="ctr">
              <a:defRPr/>
            </a:pPr>
            <a:r>
              <a:rPr lang="en-US" sz="2400" b="1" spc="-50" dirty="0">
                <a:latin typeface="Calibri"/>
              </a:rPr>
              <a:t> </a:t>
            </a:r>
            <a:r>
              <a:rPr lang="en-IN" sz="2400" dirty="0" smtClean="0"/>
              <a:t>Project–I</a:t>
            </a:r>
            <a:r>
              <a:rPr lang="en-IN" sz="2400" dirty="0"/>
              <a:t>I</a:t>
            </a:r>
            <a:r>
              <a:rPr lang="en-IN" sz="2400" dirty="0" smtClean="0"/>
              <a:t> </a:t>
            </a:r>
            <a:r>
              <a:rPr lang="en-IN" sz="2400" dirty="0"/>
              <a:t>(</a:t>
            </a:r>
            <a:r>
              <a:rPr lang="en-IN" sz="2400" dirty="0" smtClean="0"/>
              <a:t>BECE497J) </a:t>
            </a:r>
            <a:r>
              <a:rPr lang="en-IN" sz="2400" b="1" dirty="0" smtClean="0"/>
              <a:t>Final </a:t>
            </a:r>
            <a:r>
              <a:rPr lang="en-US" sz="2400" b="1" spc="-50" dirty="0" smtClean="0">
                <a:latin typeface="Calibri"/>
              </a:rPr>
              <a:t>Review</a:t>
            </a:r>
            <a:endParaRPr lang="en-US" sz="2400" b="1" spc="-50" dirty="0"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2575D8-8D7E-6765-C263-6B6BE9921838}"/>
              </a:ext>
            </a:extLst>
          </p:cNvPr>
          <p:cNvSpPr txBox="1"/>
          <p:nvPr/>
        </p:nvSpPr>
        <p:spPr>
          <a:xfrm>
            <a:off x="1615440" y="3936431"/>
            <a:ext cx="4582160" cy="90024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1470"/>
              </a:spcAft>
              <a:defRPr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  <a:r>
              <a:rPr lang="en-US" sz="2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 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</a:p>
          <a:p>
            <a:pPr marL="215900" algn="just" eaLnBrk="1" fontAlgn="auto" hangingPunct="1">
              <a:spcBef>
                <a:spcPts val="0"/>
              </a:spcBef>
              <a:spcAft>
                <a:spcPts val="1050"/>
              </a:spcAft>
              <a:defRPr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Prarthna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Puhan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(22BEC0075</a:t>
            </a:r>
            <a:r>
              <a:rPr lang="en-US" sz="2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40E98D-1AE8-2DD5-5631-26418A7DD0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662" y="0"/>
            <a:ext cx="1962916" cy="14630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D2403D-671A-228D-1982-AD4E3401C0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03" y="247649"/>
            <a:ext cx="3526464" cy="9477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137BE51-4746-9251-6B0F-600C2DB3429F}"/>
              </a:ext>
            </a:extLst>
          </p:cNvPr>
          <p:cNvSpPr txBox="1"/>
          <p:nvPr/>
        </p:nvSpPr>
        <p:spPr>
          <a:xfrm>
            <a:off x="6753224" y="3909672"/>
            <a:ext cx="4714875" cy="128496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1470"/>
              </a:spcAft>
              <a:defRPr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Guide:</a:t>
            </a:r>
          </a:p>
          <a:p>
            <a:pPr marL="215900" algn="just">
              <a:spcAft>
                <a:spcPts val="600"/>
              </a:spcAft>
              <a:defRPr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20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Shambavi</a:t>
            </a:r>
            <a:r>
              <a:rPr lang="en-US" sz="2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K,</a:t>
            </a:r>
          </a:p>
          <a:p>
            <a:pPr marL="215900" algn="just" eaLnBrk="1" fontAlgn="auto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 Higher Academics Grade</a:t>
            </a:r>
            <a:endParaRPr lang="en-US" sz="2000" dirty="0"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C1D790-E94E-CD11-E4BD-A3F0C8B8ADA2}"/>
              </a:ext>
            </a:extLst>
          </p:cNvPr>
          <p:cNvSpPr txBox="1"/>
          <p:nvPr/>
        </p:nvSpPr>
        <p:spPr>
          <a:xfrm>
            <a:off x="2647354" y="6232852"/>
            <a:ext cx="6630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Electronics Engineering, Vellore Institute of Technology.</a:t>
            </a:r>
          </a:p>
        </p:txBody>
      </p:sp>
    </p:spTree>
    <p:extLst>
      <p:ext uri="{BB962C8B-B14F-4D97-AF65-F5344CB8AC3E}">
        <p14:creationId xmlns:p14="http://schemas.microsoft.com/office/powerpoint/2010/main" val="1183275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797FF-F08E-EED2-A2CC-9DD516FDD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0950" y="395510"/>
            <a:ext cx="2493425" cy="661765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pPr algn="just"/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5B689-3723-9E43-03A3-C128CA392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0950" y="1296663"/>
            <a:ext cx="8075576" cy="5184347"/>
          </a:xfrm>
          <a:solidFill>
            <a:schemeClr val="bg1">
              <a:lumMod val="95000"/>
            </a:schemeClr>
          </a:solidFill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and Problem Formulation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w.r.t SDG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Design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and Theoretical Description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tool and Simulation &amp; Design Parameters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 Society and Environment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14091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34F4CA-21F7-4CE8-29BF-B72363C3A4A9}"/>
              </a:ext>
            </a:extLst>
          </p:cNvPr>
          <p:cNvSpPr txBox="1"/>
          <p:nvPr/>
        </p:nvSpPr>
        <p:spPr>
          <a:xfrm>
            <a:off x="1280160" y="506403"/>
            <a:ext cx="9621520" cy="55399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IN" sz="3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02295-C03B-C45C-F3FF-9F7F3C822EB3}"/>
              </a:ext>
            </a:extLst>
          </p:cNvPr>
          <p:cNvSpPr txBox="1"/>
          <p:nvPr/>
        </p:nvSpPr>
        <p:spPr>
          <a:xfrm>
            <a:off x="930442" y="1375231"/>
            <a:ext cx="10347158" cy="51706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5G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Radio (5G NR) provides high data rates, low latency, and efficient spectrum use.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Modulation schemes such as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16-QAM, 64-QAM, and 256-QAM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spectral efficiency by transmitting more bits per symbol.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modulation orders are more sensitive to impairments such as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I/Q imbalance, phase noise, carrier frequency offset (CFO), and power amplifier nonlinearity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impairments distort the signal, increase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Vector Magnitude (EVM)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reduce reliability.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MATLAB Simulink-based 5G NR transmitter model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performance under ideal, impaired, and compensated conditions.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shows that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64-QAM provides the best balance between robustness, efficiency, and practical performance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747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4234FC-DD49-450D-192B-31422BDC0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7353"/>
              </p:ext>
            </p:extLst>
          </p:nvPr>
        </p:nvGraphicFramePr>
        <p:xfrm>
          <a:off x="121920" y="934720"/>
          <a:ext cx="11942445" cy="5492379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48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2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5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254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4809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000" b="1"/>
                      </a:pP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000" b="1"/>
                      </a:pP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000" b="1"/>
                      </a:pP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000" b="1"/>
                      </a:pP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Methodology/Approach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000" b="1"/>
                      </a:pP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Findings/Results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000" b="1"/>
                      </a:pP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911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Rappaport et al. [1]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Wireless communications and applications above 100 GHz: Opportunities and challenges for 6G and beyond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Analytical study and measurement-based insights on sub-THz propagation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feasibility, use cases, and challenges of &gt;100 GHz bands for future wireless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conceptual; limited hardware-level impairment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89132"/>
                  </a:ext>
                </a:extLst>
              </a:tr>
              <a:tr h="1028911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Goldsmith [2]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Wireless Communications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Theoretical modeling of wireless channels and communication techniques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Established fundamental limits and performance metrics for wireless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address modern RF impairments in high-frequency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7237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Molisch [3]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Wireless Communications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channel modeling and system-level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 understanding of fading, MIMO, and propagation effects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focus on RF front-end impairments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325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Proakis &amp; Salehi [4]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Communications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Mathematical analysis of digital modulation and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baseline BER, EVM, and performance theory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Assumes ideal transceiver hardware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104979"/>
                  </a:ext>
                </a:extLst>
              </a:tr>
              <a:tr h="696593"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Parthasarathy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[5]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vector magnitude analysis in generalized fading with co-channel interference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Analytical EVM modeling under fading and interference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EVM as a robust performance 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include hardware impairments explicitly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056619"/>
                  </a:ext>
                </a:extLst>
              </a:tr>
              <a:tr h="696593">
                <a:tc>
                  <a:txBody>
                    <a:bodyPr/>
                    <a:lstStyle/>
                    <a:p>
                      <a:r>
                        <a:rPr lang="en-IN" sz="1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Tarighat</a:t>
                      </a:r>
                      <a:r>
                        <a:rPr lang="en-IN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[6]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2005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Compensation schemes and performance analysis of IQ imbalances in OFDM receivers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baseband compensation </a:t>
                      </a:r>
                      <a:r>
                        <a:rPr lang="en-IN" sz="1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algorithmsSignificant</a:t>
                      </a:r>
                      <a:r>
                        <a:rPr lang="en-IN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BER improvement under IQ imbalance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BER improvement under IQ imbalance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mainly on receiver-side IQ imbalance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29612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86264BC-2574-D6D4-4B51-423F7CC92EEF}"/>
              </a:ext>
            </a:extLst>
          </p:cNvPr>
          <p:cNvSpPr txBox="1"/>
          <p:nvPr/>
        </p:nvSpPr>
        <p:spPr>
          <a:xfrm>
            <a:off x="1759336" y="242243"/>
            <a:ext cx="8260964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Survey:</a:t>
            </a:r>
          </a:p>
        </p:txBody>
      </p:sp>
    </p:spTree>
    <p:extLst>
      <p:ext uri="{BB962C8B-B14F-4D97-AF65-F5344CB8AC3E}">
        <p14:creationId xmlns:p14="http://schemas.microsoft.com/office/powerpoint/2010/main" val="20438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1254BFC-AA6D-B286-C0C0-B0F92D0BCA55}"/>
              </a:ext>
            </a:extLst>
          </p:cNvPr>
          <p:cNvSpPr txBox="1"/>
          <p:nvPr/>
        </p:nvSpPr>
        <p:spPr>
          <a:xfrm>
            <a:off x="1759336" y="242243"/>
            <a:ext cx="8260964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Survey: (</a:t>
            </a:r>
            <a:r>
              <a:rPr lang="en-IN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4234FC-DD49-450D-192B-31422BDC0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140275"/>
              </p:ext>
            </p:extLst>
          </p:nvPr>
        </p:nvGraphicFramePr>
        <p:xfrm>
          <a:off x="121919" y="1005840"/>
          <a:ext cx="11936731" cy="5661886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391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32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24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195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000" b="1"/>
                      </a:pP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000" b="1"/>
                      </a:pP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000" b="1"/>
                      </a:pP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000" b="1"/>
                      </a:pP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Methodology/Approach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000" b="1"/>
                      </a:pP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Findings/Results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000" b="1"/>
                      </a:pP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9584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Zou et al. [7]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 compensation of IQ imbalance and phase noise in OFDM wireless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 estimation and compensation algorithms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robustness under combined impairments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computational 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9584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Jovanović &amp; Milenković [8]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Transmitter IQ imbalance mitigation and PA linearization in SDRs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Experimental SDR-based compensation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linearity and spectral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SDR platforms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415998"/>
                  </a:ext>
                </a:extLst>
              </a:tr>
              <a:tr h="723343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Cripps [9]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 Power Amplifiers for Wireless Communications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Behavioral modeling of RF power amplifiers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Explained PA nonlinearity and efficiency trade-offs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address system-level digital mitigation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0622859"/>
                  </a:ext>
                </a:extLst>
              </a:tr>
              <a:tr h="841175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Demir [10]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noise and timing jitter in oscillators with colored-noise 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Analytical oscillator noise </a:t>
                      </a:r>
                      <a:r>
                        <a:rPr lang="en-IN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modelling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phase noise characterization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direct system-level performance evaluation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3911421"/>
                  </a:ext>
                </a:extLst>
              </a:tr>
              <a:tr h="763798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Georgiadis &amp; Kalialakis [11]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 of EVM due to combined IQ imbalances and phase noise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Analytical and simulation-based EVM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Quantified combined impairment impact on EVM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modulation orders considered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581773"/>
                  </a:ext>
                </a:extLst>
              </a:tr>
              <a:tr h="635050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Pyatin et al. [12]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 interface quality assessment in 4G/5G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Measurement-based evaluation of RF impairments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Highlighted dominant impairments affecting EVM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Technology-specific results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038282"/>
                  </a:ext>
                </a:extLst>
              </a:tr>
              <a:tr h="547398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Valkama et al. [15]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methods for I/Q imbalance compensation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DSP algorithms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 IQ imbalance mitigation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algorithmic 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4818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790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1254BFC-AA6D-B286-C0C0-B0F92D0BCA55}"/>
              </a:ext>
            </a:extLst>
          </p:cNvPr>
          <p:cNvSpPr txBox="1"/>
          <p:nvPr/>
        </p:nvSpPr>
        <p:spPr>
          <a:xfrm>
            <a:off x="1759336" y="242243"/>
            <a:ext cx="8260964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Survey: (</a:t>
            </a:r>
            <a:r>
              <a:rPr lang="en-IN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4234FC-DD49-450D-192B-31422BDC0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093961"/>
              </p:ext>
            </p:extLst>
          </p:nvPr>
        </p:nvGraphicFramePr>
        <p:xfrm>
          <a:off x="121919" y="1005840"/>
          <a:ext cx="11936731" cy="573432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757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80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195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000" b="1"/>
                      </a:pP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000" b="1"/>
                      </a:pP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000" b="1"/>
                      </a:pP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000" b="1"/>
                      </a:pP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Methodology/Approach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000" b="1"/>
                      </a:pP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Findings/Results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000" b="1"/>
                      </a:pP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822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Song et al. [16]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Blind estimation algorithms for I/Q imbalance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Blind signal processing techniques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need for training sequences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 convergence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3571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Zou et al. [17]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 compensation of IQ imbalance and phase noise in OFDM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 estimation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system robustness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processing overhead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415998"/>
                  </a:ext>
                </a:extLst>
              </a:tr>
              <a:tr h="707010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Tandur &amp; Moonen [18]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compensation of transmitter and receiver IQ imbalance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Low-complexity compensation schemes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 for both Tx and Rx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Assumes accurate synchronization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0622859"/>
                  </a:ext>
                </a:extLst>
              </a:tr>
              <a:tr h="688157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Morgan et al. [19]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polynomial model for digital predistortion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Behavioral PA modeling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Widely adopted DPD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extensive parameter estimation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3911421"/>
                  </a:ext>
                </a:extLst>
              </a:tr>
              <a:tr h="631596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Somasundaram et al. [20]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DPD on mmWave GaN PA using 64-QAM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Experimental broadband DPD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linearity at mmWave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Hardware-specific implementation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581773"/>
                  </a:ext>
                </a:extLst>
              </a:tr>
              <a:tr h="659876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Leshem &amp; Yemini [21]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noise compensation for OFDM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DSP-based phase noise mitigation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ICI reduction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depends on noise statistics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038282"/>
                  </a:ext>
                </a:extLst>
              </a:tr>
              <a:tr h="631597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Mehrpouyan et al. [22]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 estimation of channel and oscillator phase noise in MIMO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 estimation algorithms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MIMO detection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4818443"/>
                  </a:ext>
                </a:extLst>
              </a:tr>
              <a:tr h="612742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Nasir et al. [23]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Timing and carrier synchronization in wireless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Synchronization algorithm survey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 overview of sync techniques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direct EVM-focused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5078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331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62BC62-F90A-897F-CAC4-F6BC4603FEAE}"/>
              </a:ext>
            </a:extLst>
          </p:cNvPr>
          <p:cNvSpPr txBox="1"/>
          <p:nvPr/>
        </p:nvSpPr>
        <p:spPr>
          <a:xfrm>
            <a:off x="1835536" y="500688"/>
            <a:ext cx="8260964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Gaps and Problem Formulation: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8C9AE8-65FB-099F-1B07-F7A6A4FA6091}"/>
              </a:ext>
            </a:extLst>
          </p:cNvPr>
          <p:cNvSpPr txBox="1"/>
          <p:nvPr/>
        </p:nvSpPr>
        <p:spPr>
          <a:xfrm>
            <a:off x="1835536" y="1355282"/>
            <a:ext cx="8260964" cy="51706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studies analyze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RF impairments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 NR experiences combined impairments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practice.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High-order QAM (64/256-QAM)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under realistic impairments is insufficiently explored.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between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ideal/theoretical models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5G NR hardware behavior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before-and-after suppression analysis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quantify mitigation effectiveness.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3GPP-compliant evaluation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EVM and threshold metrics.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works provide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across multiple QAM orders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identical conditions.</a:t>
            </a:r>
          </a:p>
        </p:txBody>
      </p:sp>
    </p:spTree>
    <p:extLst>
      <p:ext uri="{BB962C8B-B14F-4D97-AF65-F5344CB8AC3E}">
        <p14:creationId xmlns:p14="http://schemas.microsoft.com/office/powerpoint/2010/main" val="2457963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62BC62-F90A-897F-CAC4-F6BC4603FEAE}"/>
              </a:ext>
            </a:extLst>
          </p:cNvPr>
          <p:cNvSpPr txBox="1"/>
          <p:nvPr/>
        </p:nvSpPr>
        <p:spPr>
          <a:xfrm>
            <a:off x="1835536" y="500688"/>
            <a:ext cx="8260964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of Problem Statement w.r.t. SDG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8C9AE8-65FB-099F-1B07-F7A6A4FA6091}"/>
              </a:ext>
            </a:extLst>
          </p:cNvPr>
          <p:cNvSpPr txBox="1"/>
          <p:nvPr/>
        </p:nvSpPr>
        <p:spPr>
          <a:xfrm>
            <a:off x="1835536" y="1355282"/>
            <a:ext cx="8260964" cy="47089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SDG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– Industry, Innovation and Infrastructure: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reliability and performance of 5G communication systems for stronger digital infrastructure.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7 – Affordable and Clean Energy: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transmitter efficiency by reducing distortions and optimizing power usage.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11 – Sustainable Cities and Communities: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smart cities through stable connectivity for transport, healthcare, and IoT systems.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efficient spectrum use and better signal quality in modern networks.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Contributes to sustainable and advanced wireless communication systems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642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62BC62-F90A-897F-CAC4-F6BC4603FEAE}"/>
              </a:ext>
            </a:extLst>
          </p:cNvPr>
          <p:cNvSpPr txBox="1"/>
          <p:nvPr/>
        </p:nvSpPr>
        <p:spPr>
          <a:xfrm>
            <a:off x="1835536" y="500688"/>
            <a:ext cx="8260964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Design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8C9AE8-65FB-099F-1B07-F7A6A4FA6091}"/>
              </a:ext>
            </a:extLst>
          </p:cNvPr>
          <p:cNvSpPr txBox="1"/>
          <p:nvPr/>
        </p:nvSpPr>
        <p:spPr>
          <a:xfrm>
            <a:off x="1443789" y="1355282"/>
            <a:ext cx="9192128" cy="41919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three-stage Simulink model: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baseline, impaired, and compensated transmitter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NR test signals and route them through RF transmission blocks.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interpolation, buffering, and receiver-side decoding modules.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Emulate real conditions using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I/Q imbalance, phase noise, CFO, fading, and AWGN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suppression blocks: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I/Q compensator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carrier synchronizer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outputs using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EVM, PAPR, CCDF, spectrum, and constellation plots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each stage to measure degradation and recovery performance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256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5F8ACB-1876-AB7E-A170-C66EB31F7B5D}"/>
              </a:ext>
            </a:extLst>
          </p:cNvPr>
          <p:cNvSpPr txBox="1"/>
          <p:nvPr/>
        </p:nvSpPr>
        <p:spPr>
          <a:xfrm>
            <a:off x="1965518" y="567363"/>
            <a:ext cx="8260964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</p:txBody>
      </p:sp>
      <p:pic>
        <p:nvPicPr>
          <p:cNvPr id="7" name="Picture 6" descr="C:\Users\Administrator\Downloads\Sequential Insertion of RF Impairments (One at a Time)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1" t="6605" r="9050" b="20153"/>
          <a:stretch/>
        </p:blipFill>
        <p:spPr bwMode="auto">
          <a:xfrm>
            <a:off x="1273707" y="1306236"/>
            <a:ext cx="4664307" cy="537227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749" y="1397498"/>
            <a:ext cx="5163188" cy="5189757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V="1">
            <a:off x="3970421" y="1959429"/>
            <a:ext cx="2456505" cy="13750"/>
          </a:xfrm>
          <a:prstGeom prst="straightConnector1">
            <a:avLst/>
          </a:prstGeom>
          <a:ln w="38100">
            <a:solidFill>
              <a:schemeClr val="accent2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21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62BC62-F90A-897F-CAC4-F6BC4603FEAE}"/>
              </a:ext>
            </a:extLst>
          </p:cNvPr>
          <p:cNvSpPr txBox="1"/>
          <p:nvPr/>
        </p:nvSpPr>
        <p:spPr>
          <a:xfrm>
            <a:off x="1828800" y="401053"/>
            <a:ext cx="8229600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and Theoretical Description: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8C9AE8-65FB-099F-1B07-F7A6A4FA6091}"/>
              </a:ext>
            </a:extLst>
          </p:cNvPr>
          <p:cNvSpPr txBox="1"/>
          <p:nvPr/>
        </p:nvSpPr>
        <p:spPr>
          <a:xfrm>
            <a:off x="388019" y="1088732"/>
            <a:ext cx="11149262" cy="56323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QAM Modulation 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Theory: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carried by varying amplitude and phase of the carrier signal.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16-QAM = 4 bits/symbol, 64-QAM = 6 bits/symbol, 256-QAM = 8 bits/symbol.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Spectral Efficiency vs 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Robustness: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Higher-order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QAM increases data rate but reduces immunity to noise and distortion.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Vector Magnitude (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EVM):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modulation accuracy by comparing ideal and received symbols. Lower EVM means better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quality.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Peak-to-Average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Ratio (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PAPR):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peaks relative to average power and affects amplifier efficiency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Impairment 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Theory: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I/Q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 causes symbol distortion, CFO causes rotation, phase noise causes spreading, PA nonlinearity causes spectral regrowth.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Compensation 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Principle: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LMS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correction reduces I/Q mismatch, carrier synchronizer corrects frequency/phase offset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866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5E5C4A-995E-499B-8C67-943DC10F98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" t="-11544" r="-133" b="14338"/>
          <a:stretch/>
        </p:blipFill>
        <p:spPr>
          <a:xfrm>
            <a:off x="84909" y="662663"/>
            <a:ext cx="12107091" cy="56555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hlinkClick r:id="rId3" action="ppaction://hlinksldjump"/>
          </p:cNvPr>
          <p:cNvSpPr/>
          <p:nvPr/>
        </p:nvSpPr>
        <p:spPr>
          <a:xfrm>
            <a:off x="214964" y="2915920"/>
            <a:ext cx="3017520" cy="1534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hlinkClick r:id="rId4" action="ppaction://hlinksldjump"/>
          </p:cNvPr>
          <p:cNvSpPr/>
          <p:nvPr/>
        </p:nvSpPr>
        <p:spPr>
          <a:xfrm>
            <a:off x="7305040" y="2549373"/>
            <a:ext cx="4704080" cy="3535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hlinkClick r:id="rId5" action="ppaction://hlinksldjump"/>
          </p:cNvPr>
          <p:cNvSpPr/>
          <p:nvPr/>
        </p:nvSpPr>
        <p:spPr>
          <a:xfrm>
            <a:off x="3530600" y="3378073"/>
            <a:ext cx="548640" cy="579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hlinkClick r:id="rId5" action="ppaction://hlinksldjump"/>
          </p:cNvPr>
          <p:cNvSpPr/>
          <p:nvPr/>
        </p:nvSpPr>
        <p:spPr>
          <a:xfrm>
            <a:off x="6451600" y="3211048"/>
            <a:ext cx="589280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hlinkClick r:id="rId6" action="ppaction://hlinksldjump"/>
          </p:cNvPr>
          <p:cNvSpPr/>
          <p:nvPr/>
        </p:nvSpPr>
        <p:spPr>
          <a:xfrm>
            <a:off x="4262120" y="2925293"/>
            <a:ext cx="1925320" cy="1391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62BC62-F90A-897F-CAC4-F6BC4603FEAE}"/>
              </a:ext>
            </a:extLst>
          </p:cNvPr>
          <p:cNvSpPr txBox="1"/>
          <p:nvPr/>
        </p:nvSpPr>
        <p:spPr>
          <a:xfrm>
            <a:off x="1828800" y="401053"/>
            <a:ext cx="8229600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and Theoretical Description:</a:t>
            </a:r>
          </a:p>
        </p:txBody>
      </p:sp>
    </p:spTree>
    <p:extLst>
      <p:ext uri="{BB962C8B-B14F-4D97-AF65-F5344CB8AC3E}">
        <p14:creationId xmlns:p14="http://schemas.microsoft.com/office/powerpoint/2010/main" val="945429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 rotWithShape="1">
          <a:blip r:embed="rId2"/>
          <a:srcRect l="1108" t="3841"/>
          <a:stretch/>
        </p:blipFill>
        <p:spPr bwMode="auto">
          <a:xfrm>
            <a:off x="318577" y="1800519"/>
            <a:ext cx="11636126" cy="38838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6">
            <a:hlinkClick r:id="rId3" action="ppaction://hlinksldjump"/>
          </p:cNvPr>
          <p:cNvSpPr/>
          <p:nvPr/>
        </p:nvSpPr>
        <p:spPr>
          <a:xfrm>
            <a:off x="675907" y="4989095"/>
            <a:ext cx="912261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hlinkClick r:id="rId4" action="ppaction://hlinksldjump"/>
          </p:cNvPr>
          <p:cNvSpPr/>
          <p:nvPr/>
        </p:nvSpPr>
        <p:spPr>
          <a:xfrm>
            <a:off x="1806875" y="4989095"/>
            <a:ext cx="912261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hlinkClick r:id="rId5" action="ppaction://hlinksldjump"/>
          </p:cNvPr>
          <p:cNvSpPr/>
          <p:nvPr/>
        </p:nvSpPr>
        <p:spPr>
          <a:xfrm>
            <a:off x="2937844" y="4989095"/>
            <a:ext cx="591420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hlinkClick r:id="rId6" action="ppaction://hlinksldjump"/>
          </p:cNvPr>
          <p:cNvSpPr/>
          <p:nvPr/>
        </p:nvSpPr>
        <p:spPr>
          <a:xfrm>
            <a:off x="3747971" y="4989095"/>
            <a:ext cx="904239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hlinkClick r:id="rId7" action="ppaction://hlinksldjump"/>
          </p:cNvPr>
          <p:cNvSpPr/>
          <p:nvPr/>
        </p:nvSpPr>
        <p:spPr>
          <a:xfrm>
            <a:off x="5014025" y="4989095"/>
            <a:ext cx="793218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hlinkClick r:id="rId8" action="ppaction://hlinksldjump"/>
          </p:cNvPr>
          <p:cNvSpPr/>
          <p:nvPr/>
        </p:nvSpPr>
        <p:spPr>
          <a:xfrm>
            <a:off x="5984572" y="4989095"/>
            <a:ext cx="793218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62BC62-F90A-897F-CAC4-F6BC4603FEAE}"/>
              </a:ext>
            </a:extLst>
          </p:cNvPr>
          <p:cNvSpPr txBox="1"/>
          <p:nvPr/>
        </p:nvSpPr>
        <p:spPr>
          <a:xfrm>
            <a:off x="1828800" y="401053"/>
            <a:ext cx="8229600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and Theoretical Description:</a:t>
            </a:r>
          </a:p>
        </p:txBody>
      </p:sp>
      <p:sp>
        <p:nvSpPr>
          <p:cNvPr id="14" name="Rectangle 13">
            <a:hlinkClick r:id="rId9" action="ppaction://hlinksldjump"/>
          </p:cNvPr>
          <p:cNvSpPr/>
          <p:nvPr/>
        </p:nvSpPr>
        <p:spPr>
          <a:xfrm>
            <a:off x="498764" y="3277590"/>
            <a:ext cx="2733720" cy="1172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hlinkClick r:id="rId10" action="ppaction://hlinksldjump"/>
          </p:cNvPr>
          <p:cNvSpPr/>
          <p:nvPr/>
        </p:nvSpPr>
        <p:spPr>
          <a:xfrm>
            <a:off x="4370119" y="3277590"/>
            <a:ext cx="1876698" cy="1273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hlinkClick r:id="rId11" action="ppaction://hlinksldjump"/>
          </p:cNvPr>
          <p:cNvSpPr/>
          <p:nvPr/>
        </p:nvSpPr>
        <p:spPr>
          <a:xfrm>
            <a:off x="7384451" y="1901524"/>
            <a:ext cx="4470289" cy="3691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hlinkClick r:id="rId12" action="ppaction://hlinksldjump"/>
          </p:cNvPr>
          <p:cNvSpPr/>
          <p:nvPr/>
        </p:nvSpPr>
        <p:spPr>
          <a:xfrm>
            <a:off x="3529264" y="3598780"/>
            <a:ext cx="548640" cy="579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hlinkClick r:id="rId12" action="ppaction://hlinksldjump"/>
          </p:cNvPr>
          <p:cNvSpPr/>
          <p:nvPr/>
        </p:nvSpPr>
        <p:spPr>
          <a:xfrm>
            <a:off x="6450264" y="3431755"/>
            <a:ext cx="589280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10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73342" y="1679892"/>
            <a:ext cx="11976418" cy="4527868"/>
          </a:xfrm>
          <a:prstGeom prst="rect">
            <a:avLst/>
          </a:prstGeom>
        </p:spPr>
      </p:pic>
      <p:sp>
        <p:nvSpPr>
          <p:cNvPr id="5" name="Rectangle 4">
            <a:hlinkClick r:id="rId3" action="ppaction://hlinksldjump"/>
          </p:cNvPr>
          <p:cNvSpPr/>
          <p:nvPr/>
        </p:nvSpPr>
        <p:spPr>
          <a:xfrm>
            <a:off x="1510097" y="2310063"/>
            <a:ext cx="1184977" cy="5775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hlinkClick r:id="rId4" action="ppaction://hlinksldjump"/>
          </p:cNvPr>
          <p:cNvSpPr/>
          <p:nvPr/>
        </p:nvSpPr>
        <p:spPr>
          <a:xfrm>
            <a:off x="4004644" y="2310063"/>
            <a:ext cx="1184977" cy="5775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62BC62-F90A-897F-CAC4-F6BC4603FEAE}"/>
              </a:ext>
            </a:extLst>
          </p:cNvPr>
          <p:cNvSpPr txBox="1"/>
          <p:nvPr/>
        </p:nvSpPr>
        <p:spPr>
          <a:xfrm>
            <a:off x="1828800" y="401053"/>
            <a:ext cx="8229600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and Theoretical Description:</a:t>
            </a:r>
          </a:p>
        </p:txBody>
      </p:sp>
      <p:sp>
        <p:nvSpPr>
          <p:cNvPr id="9" name="Rectangle 8">
            <a:hlinkClick r:id="rId5" action="ppaction://hlinksldjump"/>
          </p:cNvPr>
          <p:cNvSpPr/>
          <p:nvPr/>
        </p:nvSpPr>
        <p:spPr>
          <a:xfrm>
            <a:off x="320040" y="3348841"/>
            <a:ext cx="2898173" cy="14574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hlinkClick r:id="rId6" action="ppaction://hlinksldjump"/>
          </p:cNvPr>
          <p:cNvSpPr/>
          <p:nvPr/>
        </p:nvSpPr>
        <p:spPr>
          <a:xfrm>
            <a:off x="4226961" y="3348841"/>
            <a:ext cx="1925320" cy="1391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hlinkClick r:id="rId7" action="ppaction://hlinksldjump"/>
          </p:cNvPr>
          <p:cNvSpPr/>
          <p:nvPr/>
        </p:nvSpPr>
        <p:spPr>
          <a:xfrm>
            <a:off x="569029" y="5250205"/>
            <a:ext cx="912261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hlinkClick r:id="rId8" action="ppaction://hlinksldjump"/>
          </p:cNvPr>
          <p:cNvSpPr/>
          <p:nvPr/>
        </p:nvSpPr>
        <p:spPr>
          <a:xfrm>
            <a:off x="1699997" y="5250205"/>
            <a:ext cx="912261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hlinkClick r:id="rId9" action="ppaction://hlinksldjump"/>
          </p:cNvPr>
          <p:cNvSpPr/>
          <p:nvPr/>
        </p:nvSpPr>
        <p:spPr>
          <a:xfrm>
            <a:off x="2830966" y="5250205"/>
            <a:ext cx="591420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hlinkClick r:id="rId10" action="ppaction://hlinksldjump"/>
          </p:cNvPr>
          <p:cNvSpPr/>
          <p:nvPr/>
        </p:nvSpPr>
        <p:spPr>
          <a:xfrm>
            <a:off x="3641093" y="5250205"/>
            <a:ext cx="904239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hlinkClick r:id="rId11" action="ppaction://hlinksldjump"/>
          </p:cNvPr>
          <p:cNvSpPr/>
          <p:nvPr/>
        </p:nvSpPr>
        <p:spPr>
          <a:xfrm>
            <a:off x="4907147" y="5250205"/>
            <a:ext cx="793218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hlinkClick r:id="rId12" action="ppaction://hlinksldjump"/>
          </p:cNvPr>
          <p:cNvSpPr/>
          <p:nvPr/>
        </p:nvSpPr>
        <p:spPr>
          <a:xfrm>
            <a:off x="5877694" y="5250205"/>
            <a:ext cx="793218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hlinkClick r:id="rId13" action="ppaction://hlinksldjump"/>
          </p:cNvPr>
          <p:cNvSpPr/>
          <p:nvPr/>
        </p:nvSpPr>
        <p:spPr>
          <a:xfrm>
            <a:off x="3422386" y="3810222"/>
            <a:ext cx="548640" cy="579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hlinkClick r:id="rId13" action="ppaction://hlinksldjump"/>
          </p:cNvPr>
          <p:cNvSpPr/>
          <p:nvPr/>
        </p:nvSpPr>
        <p:spPr>
          <a:xfrm>
            <a:off x="6343386" y="3643197"/>
            <a:ext cx="589280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hlinkClick r:id="rId14" action="ppaction://hlinksldjump"/>
          </p:cNvPr>
          <p:cNvSpPr/>
          <p:nvPr/>
        </p:nvSpPr>
        <p:spPr>
          <a:xfrm>
            <a:off x="7351295" y="1797320"/>
            <a:ext cx="4479381" cy="40981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985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5F8ACB-1876-AB7E-A170-C66EB31F7B5D}"/>
              </a:ext>
            </a:extLst>
          </p:cNvPr>
          <p:cNvSpPr txBox="1"/>
          <p:nvPr/>
        </p:nvSpPr>
        <p:spPr>
          <a:xfrm>
            <a:off x="1965518" y="625641"/>
            <a:ext cx="6488671" cy="5232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Tools: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8E4230-0D50-B276-D5DF-3A9FE637A22A}"/>
              </a:ext>
            </a:extLst>
          </p:cNvPr>
          <p:cNvSpPr txBox="1"/>
          <p:nvPr/>
        </p:nvSpPr>
        <p:spPr>
          <a:xfrm>
            <a:off x="2455871" y="1356145"/>
            <a:ext cx="6969935" cy="1938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Numerical computing and simulation platform </a:t>
            </a: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Simulink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Block-based system modelling and design </a:t>
            </a: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 Toolbox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5G NR waveform generation and standards-based functions </a:t>
            </a: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 Toolbox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EVM, PAPR, CCDF, modulation and signal analysis tools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8E4230-0D50-B276-D5DF-3A9FE637A22A}"/>
              </a:ext>
            </a:extLst>
          </p:cNvPr>
          <p:cNvSpPr txBox="1"/>
          <p:nvPr/>
        </p:nvSpPr>
        <p:spPr>
          <a:xfrm>
            <a:off x="2455871" y="4232926"/>
            <a:ext cx="6969935" cy="1938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 Frequency: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3.5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GHz (FR1/ sub-6 band)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Subcarrier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Spacing (SCS):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 kHz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MHz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Modulation Type: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16-QAM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64-QAM, 256-QAM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Duplexing: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FDD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Subframes: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5F8ACB-1876-AB7E-A170-C66EB31F7B5D}"/>
              </a:ext>
            </a:extLst>
          </p:cNvPr>
          <p:cNvSpPr txBox="1"/>
          <p:nvPr/>
        </p:nvSpPr>
        <p:spPr>
          <a:xfrm>
            <a:off x="1965517" y="3502422"/>
            <a:ext cx="6488671" cy="5232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Parameters: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884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5F8ACB-1876-AB7E-A170-C66EB31F7B5D}"/>
              </a:ext>
            </a:extLst>
          </p:cNvPr>
          <p:cNvSpPr txBox="1"/>
          <p:nvPr/>
        </p:nvSpPr>
        <p:spPr>
          <a:xfrm>
            <a:off x="1965518" y="625641"/>
            <a:ext cx="6488671" cy="5232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Analysis: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244272" y="1148858"/>
            <a:ext cx="9423135" cy="2781456"/>
            <a:chOff x="41707" y="1459514"/>
            <a:chExt cx="12108585" cy="3282491"/>
          </a:xfrm>
        </p:grpSpPr>
        <p:grpSp>
          <p:nvGrpSpPr>
            <p:cNvPr id="9" name="Group 8"/>
            <p:cNvGrpSpPr/>
            <p:nvPr/>
          </p:nvGrpSpPr>
          <p:grpSpPr>
            <a:xfrm>
              <a:off x="41707" y="1896395"/>
              <a:ext cx="12108585" cy="2845610"/>
              <a:chOff x="47032" y="2282475"/>
              <a:chExt cx="12108585" cy="2845610"/>
            </a:xfrm>
          </p:grpSpPr>
          <p:pic>
            <p:nvPicPr>
              <p:cNvPr id="13" name="Picture 2" descr="https://lh7-rt.googleusercontent.com/docsz/AD_4nXddzRbTFSBL88n0iXdbfqZs2EyK2J0tWtKA1l1uYGsptQeX1wpJvpkvik4VDYUPiwMmzNTEtw96K-ptPH_LVmT10l8uE3vb_DtAb_NVGAaBNfDlRxidyFZlQZRo66TN8GZxJWnrTQ?key=FI4bZBKHzxOj1Kb4gFddyQ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834"/>
              <a:stretch/>
            </p:blipFill>
            <p:spPr bwMode="auto">
              <a:xfrm>
                <a:off x="47032" y="2285189"/>
                <a:ext cx="4028691" cy="28428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2" descr="https://lh7-rt.googleusercontent.com/docsz/AD_4nXeqrGqNwqxN51wf9AgvmAJNb5WEn_jMacpOg9G6yMYJD2ECuY1l0UhNjcz--4_rrzcvyORJ0FKvlMrhPsIZGJ0FYRIz2YiKw1MMy9eVtHD_2dNqMFZo_vFwuMqnQb95FCEBagoEcw?key=FI4bZBKHzxOj1Kb4gFddyQ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5660"/>
              <a:stretch/>
            </p:blipFill>
            <p:spPr bwMode="auto">
              <a:xfrm>
                <a:off x="4109799" y="2282476"/>
                <a:ext cx="4013200" cy="28456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https://lh7-rt.googleusercontent.com/docsz/AD_4nXcTiAEpdkqWyZN-p98-XZ9L7g0eej1jUKBbldSdPOK_zlDNadTyeaQaFro0oFA6ubZaoJIyWLKBuGK90fHDDGKqeFcwt_9dMZ6AygpWMONctIMv-tLvtLToKIPUvxdxHLkW7aZ4KA?key=FI4bZBKHzxOj1Kb4gFddyQ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91" b="8394"/>
              <a:stretch/>
            </p:blipFill>
            <p:spPr bwMode="auto">
              <a:xfrm>
                <a:off x="8157075" y="2282475"/>
                <a:ext cx="3998542" cy="28456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0" name="Rectangle 9"/>
            <p:cNvSpPr/>
            <p:nvPr/>
          </p:nvSpPr>
          <p:spPr>
            <a:xfrm>
              <a:off x="852408" y="1459514"/>
              <a:ext cx="2484350" cy="4721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 – QAM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536440" y="1459515"/>
              <a:ext cx="3119121" cy="4721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64 – QAM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666922" y="1459515"/>
              <a:ext cx="3119121" cy="4721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256 – QAM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6" name="Picture 15"/>
          <p:cNvPicPr/>
          <p:nvPr/>
        </p:nvPicPr>
        <p:blipFill>
          <a:blip r:embed="rId5"/>
          <a:stretch>
            <a:fillRect/>
          </a:stretch>
        </p:blipFill>
        <p:spPr>
          <a:xfrm>
            <a:off x="2277912" y="4069749"/>
            <a:ext cx="3101565" cy="2411259"/>
          </a:xfrm>
          <a:prstGeom prst="rect">
            <a:avLst/>
          </a:prstGeom>
        </p:spPr>
      </p:pic>
      <p:pic>
        <p:nvPicPr>
          <p:cNvPr id="17" name="Picture 16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010" y="4069749"/>
            <a:ext cx="3105660" cy="2411260"/>
          </a:xfrm>
          <a:prstGeom prst="rect">
            <a:avLst/>
          </a:prstGeom>
        </p:spPr>
      </p:pic>
      <p:pic>
        <p:nvPicPr>
          <p:cNvPr id="18" name="Picture 17"/>
          <p:cNvPicPr/>
          <p:nvPr/>
        </p:nvPicPr>
        <p:blipFill>
          <a:blip r:embed="rId7"/>
          <a:stretch>
            <a:fillRect/>
          </a:stretch>
        </p:blipFill>
        <p:spPr>
          <a:xfrm>
            <a:off x="8555664" y="4069748"/>
            <a:ext cx="3111743" cy="24112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39877" y="2524629"/>
            <a:ext cx="193336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Ideal Case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" y="4921437"/>
            <a:ext cx="227791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Impairments + Suppression Case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452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956633"/>
              </p:ext>
            </p:extLst>
          </p:nvPr>
        </p:nvGraphicFramePr>
        <p:xfrm>
          <a:off x="272714" y="1451354"/>
          <a:ext cx="11662609" cy="4837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6085">
                  <a:extLst>
                    <a:ext uri="{9D8B030D-6E8A-4147-A177-3AD203B41FA5}">
                      <a16:colId xmlns:a16="http://schemas.microsoft.com/office/drawing/2014/main" val="954716431"/>
                    </a:ext>
                  </a:extLst>
                </a:gridCol>
                <a:gridCol w="1251285">
                  <a:extLst>
                    <a:ext uri="{9D8B030D-6E8A-4147-A177-3AD203B41FA5}">
                      <a16:colId xmlns:a16="http://schemas.microsoft.com/office/drawing/2014/main" val="336117804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604839848"/>
                    </a:ext>
                  </a:extLst>
                </a:gridCol>
                <a:gridCol w="1475873">
                  <a:extLst>
                    <a:ext uri="{9D8B030D-6E8A-4147-A177-3AD203B41FA5}">
                      <a16:colId xmlns:a16="http://schemas.microsoft.com/office/drawing/2014/main" val="3267080218"/>
                    </a:ext>
                  </a:extLst>
                </a:gridCol>
                <a:gridCol w="1475874">
                  <a:extLst>
                    <a:ext uri="{9D8B030D-6E8A-4147-A177-3AD203B41FA5}">
                      <a16:colId xmlns:a16="http://schemas.microsoft.com/office/drawing/2014/main" val="3536100054"/>
                    </a:ext>
                  </a:extLst>
                </a:gridCol>
                <a:gridCol w="1941095">
                  <a:extLst>
                    <a:ext uri="{9D8B030D-6E8A-4147-A177-3AD203B41FA5}">
                      <a16:colId xmlns:a16="http://schemas.microsoft.com/office/drawing/2014/main" val="131539328"/>
                    </a:ext>
                  </a:extLst>
                </a:gridCol>
                <a:gridCol w="1523997">
                  <a:extLst>
                    <a:ext uri="{9D8B030D-6E8A-4147-A177-3AD203B41FA5}">
                      <a16:colId xmlns:a16="http://schemas.microsoft.com/office/drawing/2014/main" val="3735702676"/>
                    </a:ext>
                  </a:extLst>
                </a:gridCol>
              </a:tblGrid>
              <a:tr h="209425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Modulation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Obtained EVM (Ideal)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Obtained EVM (Impairments + Suppression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3GPP Threshold EVM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Obtained PAPR (dB)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Obtained PAPR (Impairments + Suppression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3GPP Threshold</a:t>
                      </a:r>
                      <a:r>
                        <a:rPr lang="en-IN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PAPR (dB)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144185"/>
                  </a:ext>
                </a:extLst>
              </a:tr>
              <a:tr h="1075403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16-QAM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1.21%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&lt;= 12.5%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9.71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10.17</a:t>
                      </a:r>
                      <a:endParaRPr lang="en-IN" sz="2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&lt;= 10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962174"/>
                  </a:ext>
                </a:extLst>
              </a:tr>
              <a:tr h="81726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64-QAM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1.24%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6.6%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&lt;= 8%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9.80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9.83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&lt;= 10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701599"/>
                  </a:ext>
                </a:extLst>
              </a:tr>
              <a:tr h="850231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256-QAM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1.22%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5.9%</a:t>
                      </a:r>
                      <a:endParaRPr lang="en-IN" sz="2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&lt;= 3.5%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9.57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9.76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&lt;= 10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78816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35F8ACB-1876-AB7E-A170-C66EB31F7B5D}"/>
              </a:ext>
            </a:extLst>
          </p:cNvPr>
          <p:cNvSpPr txBox="1"/>
          <p:nvPr/>
        </p:nvSpPr>
        <p:spPr>
          <a:xfrm>
            <a:off x="1965518" y="625641"/>
            <a:ext cx="6488671" cy="5232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Analysis: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14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768460"/>
              </p:ext>
            </p:extLst>
          </p:nvPr>
        </p:nvGraphicFramePr>
        <p:xfrm>
          <a:off x="272714" y="1451351"/>
          <a:ext cx="11662613" cy="5069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401">
                  <a:extLst>
                    <a:ext uri="{9D8B030D-6E8A-4147-A177-3AD203B41FA5}">
                      <a16:colId xmlns:a16="http://schemas.microsoft.com/office/drawing/2014/main" val="3267080218"/>
                    </a:ext>
                  </a:extLst>
                </a:gridCol>
                <a:gridCol w="2682403">
                  <a:extLst>
                    <a:ext uri="{9D8B030D-6E8A-4147-A177-3AD203B41FA5}">
                      <a16:colId xmlns:a16="http://schemas.microsoft.com/office/drawing/2014/main" val="3536100054"/>
                    </a:ext>
                  </a:extLst>
                </a:gridCol>
                <a:gridCol w="3527943">
                  <a:extLst>
                    <a:ext uri="{9D8B030D-6E8A-4147-A177-3AD203B41FA5}">
                      <a16:colId xmlns:a16="http://schemas.microsoft.com/office/drawing/2014/main" val="131539328"/>
                    </a:ext>
                  </a:extLst>
                </a:gridCol>
                <a:gridCol w="2769866">
                  <a:extLst>
                    <a:ext uri="{9D8B030D-6E8A-4147-A177-3AD203B41FA5}">
                      <a16:colId xmlns:a16="http://schemas.microsoft.com/office/drawing/2014/main" val="3735702676"/>
                    </a:ext>
                  </a:extLst>
                </a:gridCol>
              </a:tblGrid>
              <a:tr h="1141714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Impairments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EVM</a:t>
                      </a:r>
                      <a:r>
                        <a:rPr lang="en-IN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Range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PAPR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Severity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144185"/>
                  </a:ext>
                </a:extLst>
              </a:tr>
              <a:tr h="64531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r>
                        <a:rPr lang="en-IN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Noise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 – 2.57 %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9.83 dB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962174"/>
                  </a:ext>
                </a:extLst>
              </a:tr>
              <a:tr h="64531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Carrier</a:t>
                      </a:r>
                      <a:r>
                        <a:rPr lang="en-IN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Frequency Offset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 – 1168 %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~ 9.84 dB</a:t>
                      </a:r>
                      <a:endParaRPr kumimoji="0" lang="en-I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701599"/>
                  </a:ext>
                </a:extLst>
              </a:tr>
              <a:tr h="64531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I/Q</a:t>
                      </a:r>
                      <a:r>
                        <a:rPr lang="en-IN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Imbalance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 – 6.4 %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~ 9.83 dB</a:t>
                      </a:r>
                      <a:endParaRPr kumimoji="0" lang="en-I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7881627"/>
                  </a:ext>
                </a:extLst>
              </a:tr>
              <a:tr h="64531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 Nonlinearity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 – 1.8 %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~ 9.5 dB</a:t>
                      </a:r>
                      <a:endParaRPr kumimoji="0" lang="en-I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462343"/>
                  </a:ext>
                </a:extLst>
              </a:tr>
              <a:tr h="64531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Rayleigh Fading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 – 1.6 %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~ 9.7 dB</a:t>
                      </a:r>
                      <a:endParaRPr kumimoji="0" lang="en-I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109550"/>
                  </a:ext>
                </a:extLst>
              </a:tr>
              <a:tr h="64531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AWGN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1.26 – 1.29 %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~ 9.8 dB</a:t>
                      </a:r>
                      <a:endParaRPr kumimoji="0" lang="en-I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80500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35F8ACB-1876-AB7E-A170-C66EB31F7B5D}"/>
              </a:ext>
            </a:extLst>
          </p:cNvPr>
          <p:cNvSpPr txBox="1"/>
          <p:nvPr/>
        </p:nvSpPr>
        <p:spPr>
          <a:xfrm>
            <a:off x="1965518" y="625641"/>
            <a:ext cx="6488671" cy="5232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Analysis: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71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981871"/>
              </p:ext>
            </p:extLst>
          </p:nvPr>
        </p:nvGraphicFramePr>
        <p:xfrm>
          <a:off x="737935" y="1483435"/>
          <a:ext cx="10475497" cy="3796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3012">
                  <a:extLst>
                    <a:ext uri="{9D8B030D-6E8A-4147-A177-3AD203B41FA5}">
                      <a16:colId xmlns:a16="http://schemas.microsoft.com/office/drawing/2014/main" val="326708021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536100054"/>
                    </a:ext>
                  </a:extLst>
                </a:gridCol>
                <a:gridCol w="2213811">
                  <a:extLst>
                    <a:ext uri="{9D8B030D-6E8A-4147-A177-3AD203B41FA5}">
                      <a16:colId xmlns:a16="http://schemas.microsoft.com/office/drawing/2014/main" val="131539328"/>
                    </a:ext>
                  </a:extLst>
                </a:gridCol>
                <a:gridCol w="2085474">
                  <a:extLst>
                    <a:ext uri="{9D8B030D-6E8A-4147-A177-3AD203B41FA5}">
                      <a16:colId xmlns:a16="http://schemas.microsoft.com/office/drawing/2014/main" val="3735702676"/>
                    </a:ext>
                  </a:extLst>
                </a:gridCol>
              </a:tblGrid>
              <a:tr h="134857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Scenario</a:t>
                      </a:r>
                      <a:endParaRPr lang="en-IN" sz="2000" baseline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(64-QAM)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EVM</a:t>
                      </a:r>
                      <a:r>
                        <a:rPr lang="en-IN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without Suppression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EVM with Suppression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Improvement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144185"/>
                  </a:ext>
                </a:extLst>
              </a:tr>
              <a:tr h="857674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r>
                        <a:rPr lang="en-IN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Noise + CFO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6.750%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6.669 %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962174"/>
                  </a:ext>
                </a:extLst>
              </a:tr>
              <a:tr h="827671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I/Q Imbalance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6.447 %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4.751 %</a:t>
                      </a:r>
                      <a:endParaRPr kumimoji="0" lang="en-I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701599"/>
                  </a:ext>
                </a:extLst>
              </a:tr>
              <a:tr h="762238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Impairments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7.051 %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6.698 %</a:t>
                      </a:r>
                      <a:endParaRPr kumimoji="0" lang="en-I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Marginal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78816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35F8ACB-1876-AB7E-A170-C66EB31F7B5D}"/>
              </a:ext>
            </a:extLst>
          </p:cNvPr>
          <p:cNvSpPr txBox="1"/>
          <p:nvPr/>
        </p:nvSpPr>
        <p:spPr>
          <a:xfrm>
            <a:off x="1965518" y="625641"/>
            <a:ext cx="6488671" cy="5232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Analysis: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164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62BC62-F90A-897F-CAC4-F6BC4603FEAE}"/>
              </a:ext>
            </a:extLst>
          </p:cNvPr>
          <p:cNvSpPr txBox="1"/>
          <p:nvPr/>
        </p:nvSpPr>
        <p:spPr>
          <a:xfrm>
            <a:off x="1828800" y="401053"/>
            <a:ext cx="8229600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8C9AE8-65FB-099F-1B07-F7A6A4FA6091}"/>
              </a:ext>
            </a:extLst>
          </p:cNvPr>
          <p:cNvSpPr txBox="1"/>
          <p:nvPr/>
        </p:nvSpPr>
        <p:spPr>
          <a:xfrm>
            <a:off x="1122947" y="1313322"/>
            <a:ext cx="10058401" cy="51706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MATLAB Simulink-based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 NR transmitter model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successfully developed and analyzed.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was evaluated under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ideal, impaired, and compensated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operating conditions.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impairments such as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CFO, phase noise, and I/Q imbalance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significantly degrade signal quality.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Compensation techniques improved EVM and overall transmission performance.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16-QAM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showed highest robustness, while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256-QAM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offered maximum spectral efficiency.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64-QAM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provided the best balance between robustness, efficiency, and practical implementation.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highlights the importance of impairment-aware design for reliable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 NR systems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50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62BC62-F90A-897F-CAC4-F6BC4603FEAE}"/>
              </a:ext>
            </a:extLst>
          </p:cNvPr>
          <p:cNvSpPr txBox="1"/>
          <p:nvPr/>
        </p:nvSpPr>
        <p:spPr>
          <a:xfrm>
            <a:off x="1828800" y="401053"/>
            <a:ext cx="8229600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on Society and Environment: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8C9AE8-65FB-099F-1B07-F7A6A4FA6091}"/>
              </a:ext>
            </a:extLst>
          </p:cNvPr>
          <p:cNvSpPr txBox="1"/>
          <p:nvPr/>
        </p:nvSpPr>
        <p:spPr>
          <a:xfrm>
            <a:off x="1113676" y="1574579"/>
            <a:ext cx="9659848" cy="37856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of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 wireless networks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faster and stable communication.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smart services such as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telemedicine, smart transport, and IoT applications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digital connectivity for education, business, and remote work.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transmitter efficiency can reduce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communication systems.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signal quality helps in efficient use of available radio spectrum.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Contributes to development of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 and modern infrastructure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sustainable network design with improved performance and lower resource wastage. </a:t>
            </a:r>
          </a:p>
        </p:txBody>
      </p:sp>
    </p:spTree>
    <p:extLst>
      <p:ext uri="{BB962C8B-B14F-4D97-AF65-F5344CB8AC3E}">
        <p14:creationId xmlns:p14="http://schemas.microsoft.com/office/powerpoint/2010/main" val="2658198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62BC62-F90A-897F-CAC4-F6BC4603FEAE}"/>
              </a:ext>
            </a:extLst>
          </p:cNvPr>
          <p:cNvSpPr txBox="1"/>
          <p:nvPr/>
        </p:nvSpPr>
        <p:spPr>
          <a:xfrm>
            <a:off x="1828800" y="401053"/>
            <a:ext cx="8229600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 (Publication):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645" t="818" r="4258" b="1676"/>
          <a:stretch/>
        </p:blipFill>
        <p:spPr>
          <a:xfrm rot="5400000">
            <a:off x="3014633" y="1723651"/>
            <a:ext cx="5857934" cy="425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47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1CC37B-AA07-AA0B-B006-8E3F69AF976A}"/>
              </a:ext>
            </a:extLst>
          </p:cNvPr>
          <p:cNvSpPr txBox="1"/>
          <p:nvPr/>
        </p:nvSpPr>
        <p:spPr>
          <a:xfrm>
            <a:off x="1765493" y="262563"/>
            <a:ext cx="8260964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6C741F-296D-422A-048A-915DD97A7A3F}"/>
              </a:ext>
            </a:extLst>
          </p:cNvPr>
          <p:cNvSpPr txBox="1"/>
          <p:nvPr/>
        </p:nvSpPr>
        <p:spPr>
          <a:xfrm>
            <a:off x="169681" y="995680"/>
            <a:ext cx="11849493" cy="58169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S. Rappaport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“Wireless communications and applications above 100 GHz: Opportunities and challenges for 6G and beyond,”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7, pp. 78729–78757, 2019,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10.1109/ACCESS.2019.2921522.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Goldsmith,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Cambridge, U.K.: Cambridge Univ. Press, 2005.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F.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Molisch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2nd ed. Hoboken, NJ, USA: Wiley, 2011.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G.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Proakis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Salehi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Communications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5th ed. New York, NY, USA: McGraw-Hill, 2008.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Parthasarathy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“Error vector magnitude analysis in generalized fading with co-channel interference,”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65, no. 12, pp. 5377–5391, Dec. 2017.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Tarighat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Bagheri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H. Sayed, “Compensation schemes and performance analysis of IQ imbalances in OFDM receivers,”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Signal Process.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53, no. 8, pp. 3257–3268, Aug. 2005.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Zou, A.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Tarighat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H. Sayed, “Joint compensation of IQ imbalance and phase noise in OFDM wireless systems,”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57, no. 2, pp. 404–414, Feb. 2009.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Jovanović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Milenković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“Transmitter IQ imbalance mitigation and PA linearization in software defined radios,”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Radioengineering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31, no. 1, pp. 144–154, Apr. 2022.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Cripps,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Power Amplifiers for Wireless Communications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2nd ed. Norwood, MA, USA: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Artech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House, 2006.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Demir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“Phase noise and timing jitter in oscillators with colored-noise sources,”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Circuits Syst. 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49, no. 12, pp. 1782–1791, Dec. 2002.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Georgiadis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Kalialakis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“Evaluation of error vector magnitude due to combined IQ imbalances and phase noise,”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IET Circuits, Devices &amp; Systems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8, no. 6, pp. 441–448, 2014.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Pyatin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“Radio frequency interface quality assessment in 4G/5G: Effects of IQ imbalance, phase noise, and nonlinearities on error vector magnitude,”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11, pp. 1–15, 2023.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O.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Omijeh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E. E.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Ibara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“Modeling and simulation of phase noise effect on 256-QAM,”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Int. J. Wireless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Mobile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3, no. 6, pp. 72–76, 2015.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Halder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“MATLAB Simulink study on the performance of QAM modulation in AWGN, Rayleigh, and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Rician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fading channels: BER analysis,”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Irish Interdisciplinary J. Sci. &amp; Res.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7, no. 2, pp. 34–41, 2023.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Valkama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Renfors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V.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Koivunen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“Advanced methods for I/Q imbalance compensation in communication receivers,”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Signal Process.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49, no. 10, pp. 2335–2344, Oct. 2001.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Song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“Blind estimation algorithms for I/Q imbalance in direct down-conversion receivers,” in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IEEE VTC-Fall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2018.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Zou, A.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Tarighat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H. Sayed, “Joint compensation of IQ imbalance and phase noise in OFDM systems,” in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Asilomar Conf.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2006.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Tandur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Moonen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“Efficient compensation of transmitter and receiver IQ imbalance in OFDM systems,”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EURASIP J. Adv. Signal Process.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2010.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Morgan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 generalized memory polynomial model for digital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predistortion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RF power amplifiers,”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Signal Process.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54, no. 10, pp. 3852–3860, Oct. 2006.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Somasundaram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“Effective digital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predistortion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(DPD) on a broadband millimeter-wave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amplifier using LTE 64-QAM waveforms,”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no. 13, Art. no. 2869, 2023.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Leshem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M. Yemini, “Phase noise compensation for OFDM systems,”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Signal Process.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65, no. 21, pp. 5675–5688, Nov. 2017.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Mehrpouyan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“Joint estimation of channel and oscillator phase noise in MIMO systems,”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Signal Process.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60, no. 9, pp. 4790–4807, Sep. 2012.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A. Nasir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“Timing and carrier synchronization in wireless communication systems,”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EURASIP J. Wireless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2016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43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4365056" y="3188369"/>
            <a:ext cx="3623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501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5F8ACB-1876-AB7E-A170-C66EB31F7B5D}"/>
              </a:ext>
            </a:extLst>
          </p:cNvPr>
          <p:cNvSpPr txBox="1"/>
          <p:nvPr/>
        </p:nvSpPr>
        <p:spPr>
          <a:xfrm>
            <a:off x="1965518" y="567363"/>
            <a:ext cx="8260964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Transmitter Block: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5E5C4A-995E-499B-8C67-943DC10F98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4"/>
          <a:stretch/>
        </p:blipFill>
        <p:spPr>
          <a:xfrm>
            <a:off x="42454" y="1202430"/>
            <a:ext cx="12107091" cy="5655570"/>
          </a:xfrm>
          <a:prstGeom prst="rect">
            <a:avLst/>
          </a:prstGeom>
        </p:spPr>
      </p:pic>
      <p:cxnSp>
        <p:nvCxnSpPr>
          <p:cNvPr id="7" name="Elbow Connector 6"/>
          <p:cNvCxnSpPr/>
          <p:nvPr/>
        </p:nvCxnSpPr>
        <p:spPr>
          <a:xfrm>
            <a:off x="2164080" y="4196080"/>
            <a:ext cx="2174240" cy="1351280"/>
          </a:xfrm>
          <a:prstGeom prst="curved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38320" y="4328160"/>
            <a:ext cx="4226560" cy="18592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Creates the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5G NR test signal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defined parameters (subcarrier spacing, bandwidth,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subframes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Applies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 interpolation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increase sampling rate for RF transmission</a:t>
            </a: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10226482" y="6075680"/>
            <a:ext cx="1386398" cy="52832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Main Block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hlinkClick r:id="" action="ppaction://noaction"/>
          </p:cNvPr>
          <p:cNvSpPr/>
          <p:nvPr/>
        </p:nvSpPr>
        <p:spPr>
          <a:xfrm>
            <a:off x="3495040" y="3068320"/>
            <a:ext cx="548640" cy="579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hlinkClick r:id="" action="ppaction://noaction"/>
          </p:cNvPr>
          <p:cNvSpPr/>
          <p:nvPr/>
        </p:nvSpPr>
        <p:spPr>
          <a:xfrm>
            <a:off x="4262120" y="2489200"/>
            <a:ext cx="1925320" cy="1554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hlinkClick r:id="" action="ppaction://noaction"/>
          </p:cNvPr>
          <p:cNvSpPr/>
          <p:nvPr/>
        </p:nvSpPr>
        <p:spPr>
          <a:xfrm>
            <a:off x="6451600" y="3189853"/>
            <a:ext cx="589280" cy="51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hlinkClick r:id="" action="ppaction://noaction"/>
          </p:cNvPr>
          <p:cNvSpPr/>
          <p:nvPr/>
        </p:nvSpPr>
        <p:spPr>
          <a:xfrm>
            <a:off x="7305040" y="2184400"/>
            <a:ext cx="4704080" cy="3535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hlinkClick r:id="rId4" action="ppaction://hlinksldjump"/>
          </p:cNvPr>
          <p:cNvSpPr/>
          <p:nvPr/>
        </p:nvSpPr>
        <p:spPr>
          <a:xfrm>
            <a:off x="214964" y="2595880"/>
            <a:ext cx="3017520" cy="1534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hlinkClick r:id="rId5" action="ppaction://hlinksldjump"/>
          </p:cNvPr>
          <p:cNvSpPr/>
          <p:nvPr/>
        </p:nvSpPr>
        <p:spPr>
          <a:xfrm>
            <a:off x="7305040" y="2229333"/>
            <a:ext cx="4704080" cy="3535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hlinkClick r:id="rId6" action="ppaction://hlinksldjump"/>
          </p:cNvPr>
          <p:cNvSpPr/>
          <p:nvPr/>
        </p:nvSpPr>
        <p:spPr>
          <a:xfrm>
            <a:off x="3530600" y="3058033"/>
            <a:ext cx="548640" cy="579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hlinkClick r:id="rId6" action="ppaction://hlinksldjump"/>
          </p:cNvPr>
          <p:cNvSpPr/>
          <p:nvPr/>
        </p:nvSpPr>
        <p:spPr>
          <a:xfrm>
            <a:off x="6451600" y="2891008"/>
            <a:ext cx="589280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hlinkClick r:id="rId7" action="ppaction://hlinksldjump"/>
          </p:cNvPr>
          <p:cNvSpPr/>
          <p:nvPr/>
        </p:nvSpPr>
        <p:spPr>
          <a:xfrm>
            <a:off x="4262120" y="2605253"/>
            <a:ext cx="1925320" cy="1391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095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5E5C4A-995E-499B-8C67-943DC10F98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4"/>
          <a:stretch/>
        </p:blipFill>
        <p:spPr>
          <a:xfrm>
            <a:off x="42454" y="1202430"/>
            <a:ext cx="12107091" cy="5655570"/>
          </a:xfrm>
          <a:prstGeom prst="rect">
            <a:avLst/>
          </a:prstGeom>
        </p:spPr>
      </p:pic>
      <p:cxnSp>
        <p:nvCxnSpPr>
          <p:cNvPr id="7" name="Elbow Connector 6"/>
          <p:cNvCxnSpPr>
            <a:endCxn id="10" idx="0"/>
          </p:cNvCxnSpPr>
          <p:nvPr/>
        </p:nvCxnSpPr>
        <p:spPr>
          <a:xfrm rot="5400000">
            <a:off x="2772915" y="3968245"/>
            <a:ext cx="1073410" cy="756920"/>
          </a:xfrm>
          <a:prstGeom prst="curved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8480" y="4883410"/>
            <a:ext cx="4785360" cy="129387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Temporarily </a:t>
            </a:r>
            <a:r>
              <a:rPr lang="en-US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the generated baseband signal</a:t>
            </a: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before sending it to the RF transmitter.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smooth data flow without loss.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8026" y="4236474"/>
            <a:ext cx="3283494" cy="166648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the transmitted RF signal before passing it to the receiver section.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stability for further measurement and analysis.</a:t>
            </a:r>
          </a:p>
        </p:txBody>
      </p:sp>
      <p:cxnSp>
        <p:nvCxnSpPr>
          <p:cNvPr id="13" name="Elbow Connector 6"/>
          <p:cNvCxnSpPr/>
          <p:nvPr/>
        </p:nvCxnSpPr>
        <p:spPr>
          <a:xfrm rot="16200000" flipH="1">
            <a:off x="6812403" y="3449196"/>
            <a:ext cx="1015756" cy="558803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Rectangle 35">
            <a:hlinkClick r:id="" action="ppaction://noaction"/>
          </p:cNvPr>
          <p:cNvSpPr/>
          <p:nvPr/>
        </p:nvSpPr>
        <p:spPr>
          <a:xfrm>
            <a:off x="162560" y="2651760"/>
            <a:ext cx="3017520" cy="1534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hlinkClick r:id="" action="ppaction://noaction"/>
          </p:cNvPr>
          <p:cNvSpPr/>
          <p:nvPr/>
        </p:nvSpPr>
        <p:spPr>
          <a:xfrm>
            <a:off x="3495040" y="3068320"/>
            <a:ext cx="548640" cy="579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hlinkClick r:id="" action="ppaction://noaction"/>
          </p:cNvPr>
          <p:cNvSpPr/>
          <p:nvPr/>
        </p:nvSpPr>
        <p:spPr>
          <a:xfrm>
            <a:off x="4262120" y="2489200"/>
            <a:ext cx="1925320" cy="1554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hlinkClick r:id="" action="ppaction://noaction"/>
          </p:cNvPr>
          <p:cNvSpPr/>
          <p:nvPr/>
        </p:nvSpPr>
        <p:spPr>
          <a:xfrm>
            <a:off x="6451600" y="2915920"/>
            <a:ext cx="589280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hlinkClick r:id="" action="ppaction://noaction"/>
          </p:cNvPr>
          <p:cNvSpPr/>
          <p:nvPr/>
        </p:nvSpPr>
        <p:spPr>
          <a:xfrm>
            <a:off x="7305040" y="2184400"/>
            <a:ext cx="4704080" cy="3535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ight Arrow 14"/>
          <p:cNvSpPr/>
          <p:nvPr/>
        </p:nvSpPr>
        <p:spPr>
          <a:xfrm>
            <a:off x="10226482" y="6075680"/>
            <a:ext cx="1386398" cy="52832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Main Block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5F8ACB-1876-AB7E-A170-C66EB31F7B5D}"/>
              </a:ext>
            </a:extLst>
          </p:cNvPr>
          <p:cNvSpPr txBox="1"/>
          <p:nvPr/>
        </p:nvSpPr>
        <p:spPr>
          <a:xfrm>
            <a:off x="1965518" y="567363"/>
            <a:ext cx="8260964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Transmitter Block: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hlinkClick r:id="rId4" action="ppaction://hlinksldjump"/>
          </p:cNvPr>
          <p:cNvSpPr/>
          <p:nvPr/>
        </p:nvSpPr>
        <p:spPr>
          <a:xfrm>
            <a:off x="214964" y="2651760"/>
            <a:ext cx="3017520" cy="1534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hlinkClick r:id="rId5" action="ppaction://hlinksldjump"/>
          </p:cNvPr>
          <p:cNvSpPr/>
          <p:nvPr/>
        </p:nvSpPr>
        <p:spPr>
          <a:xfrm>
            <a:off x="7305040" y="2285213"/>
            <a:ext cx="4704080" cy="3535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hlinkClick r:id="rId6" action="ppaction://hlinksldjump"/>
          </p:cNvPr>
          <p:cNvSpPr/>
          <p:nvPr/>
        </p:nvSpPr>
        <p:spPr>
          <a:xfrm>
            <a:off x="3530600" y="3113913"/>
            <a:ext cx="548640" cy="579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hlinkClick r:id="rId6" action="ppaction://hlinksldjump"/>
          </p:cNvPr>
          <p:cNvSpPr/>
          <p:nvPr/>
        </p:nvSpPr>
        <p:spPr>
          <a:xfrm>
            <a:off x="6451600" y="2946888"/>
            <a:ext cx="589280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hlinkClick r:id="rId7" action="ppaction://hlinksldjump"/>
          </p:cNvPr>
          <p:cNvSpPr/>
          <p:nvPr/>
        </p:nvSpPr>
        <p:spPr>
          <a:xfrm>
            <a:off x="4262120" y="2661133"/>
            <a:ext cx="1925320" cy="1391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773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5E5C4A-995E-499B-8C67-943DC10F98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4"/>
          <a:stretch/>
        </p:blipFill>
        <p:spPr>
          <a:xfrm>
            <a:off x="42454" y="1202430"/>
            <a:ext cx="12107091" cy="5655570"/>
          </a:xfrm>
          <a:prstGeom prst="rect">
            <a:avLst/>
          </a:prstGeom>
        </p:spPr>
      </p:pic>
      <p:cxnSp>
        <p:nvCxnSpPr>
          <p:cNvPr id="7" name="Elbow Connector 6"/>
          <p:cNvCxnSpPr>
            <a:endCxn id="10" idx="1"/>
          </p:cNvCxnSpPr>
          <p:nvPr/>
        </p:nvCxnSpPr>
        <p:spPr>
          <a:xfrm rot="16200000" flipH="1">
            <a:off x="4493259" y="4224020"/>
            <a:ext cx="1203960" cy="863599"/>
          </a:xfrm>
          <a:prstGeom prst="curved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527039" y="4328160"/>
            <a:ext cx="4441735" cy="18592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digital baseband signal into an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 signal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wireless transmission.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real RF transmitter effects such as filtering, amplification, and distortion.</a:t>
            </a:r>
          </a:p>
        </p:txBody>
      </p:sp>
      <p:sp>
        <p:nvSpPr>
          <p:cNvPr id="13" name="Rectangle 12">
            <a:hlinkClick r:id="" action="ppaction://noaction"/>
          </p:cNvPr>
          <p:cNvSpPr/>
          <p:nvPr/>
        </p:nvSpPr>
        <p:spPr>
          <a:xfrm>
            <a:off x="162560" y="2651760"/>
            <a:ext cx="3017520" cy="1534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hlinkClick r:id="" action="ppaction://noaction"/>
          </p:cNvPr>
          <p:cNvSpPr/>
          <p:nvPr/>
        </p:nvSpPr>
        <p:spPr>
          <a:xfrm>
            <a:off x="3495040" y="3068320"/>
            <a:ext cx="548640" cy="579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hlinkClick r:id="" action="ppaction://noaction"/>
          </p:cNvPr>
          <p:cNvSpPr/>
          <p:nvPr/>
        </p:nvSpPr>
        <p:spPr>
          <a:xfrm>
            <a:off x="4262120" y="2489200"/>
            <a:ext cx="1925320" cy="1554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hlinkClick r:id="" action="ppaction://noaction"/>
          </p:cNvPr>
          <p:cNvSpPr/>
          <p:nvPr/>
        </p:nvSpPr>
        <p:spPr>
          <a:xfrm>
            <a:off x="6451600" y="2915920"/>
            <a:ext cx="589280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hlinkClick r:id="" action="ppaction://noaction"/>
          </p:cNvPr>
          <p:cNvSpPr/>
          <p:nvPr/>
        </p:nvSpPr>
        <p:spPr>
          <a:xfrm>
            <a:off x="7305040" y="2184400"/>
            <a:ext cx="4704080" cy="3535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ight Arrow 11"/>
          <p:cNvSpPr/>
          <p:nvPr/>
        </p:nvSpPr>
        <p:spPr>
          <a:xfrm>
            <a:off x="10226482" y="6075680"/>
            <a:ext cx="1386398" cy="52832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Main Block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5F8ACB-1876-AB7E-A170-C66EB31F7B5D}"/>
              </a:ext>
            </a:extLst>
          </p:cNvPr>
          <p:cNvSpPr txBox="1"/>
          <p:nvPr/>
        </p:nvSpPr>
        <p:spPr>
          <a:xfrm>
            <a:off x="1965518" y="567363"/>
            <a:ext cx="8260964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Transmitter Block: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hlinkClick r:id="rId4" action="ppaction://hlinksldjump"/>
          </p:cNvPr>
          <p:cNvSpPr/>
          <p:nvPr/>
        </p:nvSpPr>
        <p:spPr>
          <a:xfrm>
            <a:off x="214964" y="2682153"/>
            <a:ext cx="3017520" cy="1534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hlinkClick r:id="rId5" action="ppaction://hlinksldjump"/>
          </p:cNvPr>
          <p:cNvSpPr/>
          <p:nvPr/>
        </p:nvSpPr>
        <p:spPr>
          <a:xfrm>
            <a:off x="7305040" y="2315606"/>
            <a:ext cx="4704080" cy="3535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hlinkClick r:id="rId6" action="ppaction://hlinksldjump"/>
          </p:cNvPr>
          <p:cNvSpPr/>
          <p:nvPr/>
        </p:nvSpPr>
        <p:spPr>
          <a:xfrm>
            <a:off x="3530600" y="3144306"/>
            <a:ext cx="548640" cy="579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hlinkClick r:id="rId6" action="ppaction://hlinksldjump"/>
          </p:cNvPr>
          <p:cNvSpPr/>
          <p:nvPr/>
        </p:nvSpPr>
        <p:spPr>
          <a:xfrm>
            <a:off x="6451600" y="2977281"/>
            <a:ext cx="589280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hlinkClick r:id="rId7" action="ppaction://hlinksldjump"/>
          </p:cNvPr>
          <p:cNvSpPr/>
          <p:nvPr/>
        </p:nvSpPr>
        <p:spPr>
          <a:xfrm>
            <a:off x="4262120" y="2691526"/>
            <a:ext cx="1925320" cy="1391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522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5E5C4A-995E-499B-8C67-943DC10F98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4"/>
          <a:stretch/>
        </p:blipFill>
        <p:spPr>
          <a:xfrm>
            <a:off x="42454" y="1202430"/>
            <a:ext cx="12107091" cy="5655570"/>
          </a:xfrm>
          <a:prstGeom prst="rect">
            <a:avLst/>
          </a:prstGeom>
        </p:spPr>
      </p:pic>
      <p:cxnSp>
        <p:nvCxnSpPr>
          <p:cNvPr id="7" name="Elbow Connector 6"/>
          <p:cNvCxnSpPr/>
          <p:nvPr/>
        </p:nvCxnSpPr>
        <p:spPr>
          <a:xfrm rot="10800000" flipV="1">
            <a:off x="5709922" y="4490719"/>
            <a:ext cx="1574798" cy="558799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137920" y="1930400"/>
            <a:ext cx="4572000" cy="425704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 Decimation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the sampling rate to recover the baseband signal.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 Subframe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extracts useful symbols and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 tools: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EVM (Error Vector Magnitude):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Signal quality.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Constellation Diagram: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Symbol mapping accuracy.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Spectrum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Analyzer: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Occupied bandwidth and spectral shape.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CCDF &amp; PAPR: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efficiency and peak signal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behaviour.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hlinkClick r:id="" action="ppaction://noaction"/>
          </p:cNvPr>
          <p:cNvSpPr/>
          <p:nvPr/>
        </p:nvSpPr>
        <p:spPr>
          <a:xfrm>
            <a:off x="162560" y="2651760"/>
            <a:ext cx="3017520" cy="1534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hlinkClick r:id="" action="ppaction://noaction"/>
          </p:cNvPr>
          <p:cNvSpPr/>
          <p:nvPr/>
        </p:nvSpPr>
        <p:spPr>
          <a:xfrm>
            <a:off x="3495040" y="3068320"/>
            <a:ext cx="548640" cy="579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hlinkClick r:id="" action="ppaction://noaction"/>
          </p:cNvPr>
          <p:cNvSpPr/>
          <p:nvPr/>
        </p:nvSpPr>
        <p:spPr>
          <a:xfrm>
            <a:off x="4262120" y="2489200"/>
            <a:ext cx="1925320" cy="1554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hlinkClick r:id="" action="ppaction://noaction"/>
          </p:cNvPr>
          <p:cNvSpPr/>
          <p:nvPr/>
        </p:nvSpPr>
        <p:spPr>
          <a:xfrm>
            <a:off x="6451600" y="2915920"/>
            <a:ext cx="589280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hlinkClick r:id="" action="ppaction://noaction"/>
          </p:cNvPr>
          <p:cNvSpPr/>
          <p:nvPr/>
        </p:nvSpPr>
        <p:spPr>
          <a:xfrm>
            <a:off x="7305040" y="2184400"/>
            <a:ext cx="4704080" cy="3535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ight Arrow 11"/>
          <p:cNvSpPr/>
          <p:nvPr/>
        </p:nvSpPr>
        <p:spPr>
          <a:xfrm>
            <a:off x="10226482" y="6075680"/>
            <a:ext cx="1386398" cy="52832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Main Block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5F8ACB-1876-AB7E-A170-C66EB31F7B5D}"/>
              </a:ext>
            </a:extLst>
          </p:cNvPr>
          <p:cNvSpPr txBox="1"/>
          <p:nvPr/>
        </p:nvSpPr>
        <p:spPr>
          <a:xfrm>
            <a:off x="1965518" y="567363"/>
            <a:ext cx="8260964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Transmitter Block: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hlinkClick r:id="rId4" action="ppaction://hlinksldjump"/>
          </p:cNvPr>
          <p:cNvSpPr/>
          <p:nvPr/>
        </p:nvSpPr>
        <p:spPr>
          <a:xfrm>
            <a:off x="214964" y="2545080"/>
            <a:ext cx="3017520" cy="1534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hlinkClick r:id="rId5" action="ppaction://hlinksldjump"/>
          </p:cNvPr>
          <p:cNvSpPr/>
          <p:nvPr/>
        </p:nvSpPr>
        <p:spPr>
          <a:xfrm>
            <a:off x="7305040" y="2178533"/>
            <a:ext cx="4704080" cy="3535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hlinkClick r:id="rId6" action="ppaction://hlinksldjump"/>
          </p:cNvPr>
          <p:cNvSpPr/>
          <p:nvPr/>
        </p:nvSpPr>
        <p:spPr>
          <a:xfrm>
            <a:off x="3530600" y="3007233"/>
            <a:ext cx="548640" cy="579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hlinkClick r:id="rId6" action="ppaction://hlinksldjump"/>
          </p:cNvPr>
          <p:cNvSpPr/>
          <p:nvPr/>
        </p:nvSpPr>
        <p:spPr>
          <a:xfrm>
            <a:off x="6451600" y="2840208"/>
            <a:ext cx="589280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hlinkClick r:id="rId7" action="ppaction://hlinksldjump"/>
          </p:cNvPr>
          <p:cNvSpPr/>
          <p:nvPr/>
        </p:nvSpPr>
        <p:spPr>
          <a:xfrm>
            <a:off x="4262120" y="2554453"/>
            <a:ext cx="1925320" cy="1391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62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5F8ACB-1876-AB7E-A170-C66EB31F7B5D}"/>
              </a:ext>
            </a:extLst>
          </p:cNvPr>
          <p:cNvSpPr txBox="1"/>
          <p:nvPr/>
        </p:nvSpPr>
        <p:spPr>
          <a:xfrm>
            <a:off x="944880" y="567363"/>
            <a:ext cx="1038352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Transmitter Block (with Impairments Blocks,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64-QAM)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1108" t="3841"/>
          <a:stretch/>
        </p:blipFill>
        <p:spPr bwMode="auto">
          <a:xfrm>
            <a:off x="318577" y="1800519"/>
            <a:ext cx="11636126" cy="38838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6" name="Elbow Connector 6"/>
          <p:cNvCxnSpPr/>
          <p:nvPr/>
        </p:nvCxnSpPr>
        <p:spPr>
          <a:xfrm rot="5400000" flipH="1" flipV="1">
            <a:off x="778533" y="3170954"/>
            <a:ext cx="2140230" cy="1510279"/>
          </a:xfrm>
          <a:prstGeom prst="curved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03788" y="1653303"/>
            <a:ext cx="4226560" cy="2405349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amplitude and phase mismatch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I and Q branches in the transmitter/receiver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constellation skewing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interference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common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practical RF chains due to imperfect mixers.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10226482" y="6075680"/>
            <a:ext cx="1386398" cy="52832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Main Block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hlinkClick r:id="rId4" action="ppaction://hlinksldjump"/>
          </p:cNvPr>
          <p:cNvSpPr/>
          <p:nvPr/>
        </p:nvSpPr>
        <p:spPr>
          <a:xfrm>
            <a:off x="675907" y="4989095"/>
            <a:ext cx="912261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hlinkClick r:id="rId5" action="ppaction://hlinksldjump"/>
          </p:cNvPr>
          <p:cNvSpPr/>
          <p:nvPr/>
        </p:nvSpPr>
        <p:spPr>
          <a:xfrm>
            <a:off x="1806875" y="4989095"/>
            <a:ext cx="912261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hlinkClick r:id="rId6" action="ppaction://hlinksldjump"/>
          </p:cNvPr>
          <p:cNvSpPr/>
          <p:nvPr/>
        </p:nvSpPr>
        <p:spPr>
          <a:xfrm>
            <a:off x="2937844" y="4989095"/>
            <a:ext cx="591420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hlinkClick r:id="rId7" action="ppaction://hlinksldjump"/>
          </p:cNvPr>
          <p:cNvSpPr/>
          <p:nvPr/>
        </p:nvSpPr>
        <p:spPr>
          <a:xfrm>
            <a:off x="3747971" y="4989095"/>
            <a:ext cx="904239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hlinkClick r:id="rId8" action="ppaction://hlinksldjump"/>
          </p:cNvPr>
          <p:cNvSpPr/>
          <p:nvPr/>
        </p:nvSpPr>
        <p:spPr>
          <a:xfrm>
            <a:off x="5014025" y="4989095"/>
            <a:ext cx="793218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hlinkClick r:id="rId9" action="ppaction://hlinksldjump"/>
          </p:cNvPr>
          <p:cNvSpPr/>
          <p:nvPr/>
        </p:nvSpPr>
        <p:spPr>
          <a:xfrm>
            <a:off x="5984572" y="4989095"/>
            <a:ext cx="793218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hlinkClick r:id="rId10" action="ppaction://hlinksldjump"/>
          </p:cNvPr>
          <p:cNvSpPr/>
          <p:nvPr/>
        </p:nvSpPr>
        <p:spPr>
          <a:xfrm>
            <a:off x="498764" y="3277590"/>
            <a:ext cx="2733720" cy="1172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hlinkClick r:id="rId11" action="ppaction://hlinksldjump"/>
          </p:cNvPr>
          <p:cNvSpPr/>
          <p:nvPr/>
        </p:nvSpPr>
        <p:spPr>
          <a:xfrm>
            <a:off x="4370119" y="3277590"/>
            <a:ext cx="1876698" cy="1273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hlinkClick r:id="rId12" action="ppaction://hlinksldjump"/>
          </p:cNvPr>
          <p:cNvSpPr/>
          <p:nvPr/>
        </p:nvSpPr>
        <p:spPr>
          <a:xfrm>
            <a:off x="7384451" y="1901524"/>
            <a:ext cx="4470289" cy="3691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hlinkClick r:id="rId13" action="ppaction://hlinksldjump"/>
          </p:cNvPr>
          <p:cNvSpPr/>
          <p:nvPr/>
        </p:nvSpPr>
        <p:spPr>
          <a:xfrm>
            <a:off x="3529264" y="3598780"/>
            <a:ext cx="548640" cy="579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hlinkClick r:id="rId13" action="ppaction://hlinksldjump"/>
          </p:cNvPr>
          <p:cNvSpPr/>
          <p:nvPr/>
        </p:nvSpPr>
        <p:spPr>
          <a:xfrm>
            <a:off x="6450264" y="3431755"/>
            <a:ext cx="589280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95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5F8ACB-1876-AB7E-A170-C66EB31F7B5D}"/>
              </a:ext>
            </a:extLst>
          </p:cNvPr>
          <p:cNvSpPr txBox="1"/>
          <p:nvPr/>
        </p:nvSpPr>
        <p:spPr>
          <a:xfrm>
            <a:off x="944880" y="567363"/>
            <a:ext cx="1038352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Transmitter Block (with Impairments Blocks,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64-QAM)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1108" t="3841"/>
          <a:stretch/>
        </p:blipFill>
        <p:spPr bwMode="auto">
          <a:xfrm>
            <a:off x="318577" y="1800519"/>
            <a:ext cx="11636126" cy="38838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6" name="Elbow Connector 6"/>
          <p:cNvCxnSpPr/>
          <p:nvPr/>
        </p:nvCxnSpPr>
        <p:spPr>
          <a:xfrm rot="5400000" flipH="1" flipV="1">
            <a:off x="2085475" y="3593434"/>
            <a:ext cx="1443789" cy="1251283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299411" y="1653304"/>
            <a:ext cx="5530937" cy="1843876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nonlinear behavior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power amplifier using a third-order polynomial model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spectral regrowth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constellation compression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degrading ACLR and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critical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high-PAPR OFDM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signals.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10226482" y="6075680"/>
            <a:ext cx="1386398" cy="52832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Main Block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hlinkClick r:id="rId4" action="ppaction://hlinksldjump"/>
          </p:cNvPr>
          <p:cNvSpPr/>
          <p:nvPr/>
        </p:nvSpPr>
        <p:spPr>
          <a:xfrm>
            <a:off x="675907" y="4989095"/>
            <a:ext cx="912261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hlinkClick r:id="rId5" action="ppaction://hlinksldjump"/>
          </p:cNvPr>
          <p:cNvSpPr/>
          <p:nvPr/>
        </p:nvSpPr>
        <p:spPr>
          <a:xfrm>
            <a:off x="1806875" y="4989095"/>
            <a:ext cx="912261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hlinkClick r:id="rId6" action="ppaction://hlinksldjump"/>
          </p:cNvPr>
          <p:cNvSpPr/>
          <p:nvPr/>
        </p:nvSpPr>
        <p:spPr>
          <a:xfrm>
            <a:off x="2937844" y="4989095"/>
            <a:ext cx="591420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hlinkClick r:id="rId7" action="ppaction://hlinksldjump"/>
          </p:cNvPr>
          <p:cNvSpPr/>
          <p:nvPr/>
        </p:nvSpPr>
        <p:spPr>
          <a:xfrm>
            <a:off x="3747971" y="4989095"/>
            <a:ext cx="904239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hlinkClick r:id="rId8" action="ppaction://hlinksldjump"/>
          </p:cNvPr>
          <p:cNvSpPr/>
          <p:nvPr/>
        </p:nvSpPr>
        <p:spPr>
          <a:xfrm>
            <a:off x="5014025" y="4989095"/>
            <a:ext cx="793218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hlinkClick r:id="rId9" action="ppaction://hlinksldjump"/>
          </p:cNvPr>
          <p:cNvSpPr/>
          <p:nvPr/>
        </p:nvSpPr>
        <p:spPr>
          <a:xfrm>
            <a:off x="5984572" y="4989095"/>
            <a:ext cx="793218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hlinkClick r:id="rId10" action="ppaction://hlinksldjump"/>
          </p:cNvPr>
          <p:cNvSpPr/>
          <p:nvPr/>
        </p:nvSpPr>
        <p:spPr>
          <a:xfrm>
            <a:off x="498764" y="3277590"/>
            <a:ext cx="2733720" cy="1172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hlinkClick r:id="rId11" action="ppaction://hlinksldjump"/>
          </p:cNvPr>
          <p:cNvSpPr/>
          <p:nvPr/>
        </p:nvSpPr>
        <p:spPr>
          <a:xfrm>
            <a:off x="4370119" y="3277590"/>
            <a:ext cx="1876698" cy="1273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hlinkClick r:id="rId12" action="ppaction://hlinksldjump"/>
          </p:cNvPr>
          <p:cNvSpPr/>
          <p:nvPr/>
        </p:nvSpPr>
        <p:spPr>
          <a:xfrm>
            <a:off x="7384451" y="1901524"/>
            <a:ext cx="4470289" cy="3691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hlinkClick r:id="rId13" action="ppaction://hlinksldjump"/>
          </p:cNvPr>
          <p:cNvSpPr/>
          <p:nvPr/>
        </p:nvSpPr>
        <p:spPr>
          <a:xfrm>
            <a:off x="3529264" y="3598780"/>
            <a:ext cx="548640" cy="579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hlinkClick r:id="rId13" action="ppaction://hlinksldjump"/>
          </p:cNvPr>
          <p:cNvSpPr/>
          <p:nvPr/>
        </p:nvSpPr>
        <p:spPr>
          <a:xfrm>
            <a:off x="6450264" y="3431755"/>
            <a:ext cx="589280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20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5F8ACB-1876-AB7E-A170-C66EB31F7B5D}"/>
              </a:ext>
            </a:extLst>
          </p:cNvPr>
          <p:cNvSpPr txBox="1"/>
          <p:nvPr/>
        </p:nvSpPr>
        <p:spPr>
          <a:xfrm>
            <a:off x="944880" y="567363"/>
            <a:ext cx="1038352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Transmitter Block (with Impairments Blocks,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64-QAM)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1108" t="3841"/>
          <a:stretch/>
        </p:blipFill>
        <p:spPr bwMode="auto">
          <a:xfrm>
            <a:off x="318577" y="1800519"/>
            <a:ext cx="11636126" cy="38838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6" name="Elbow Connector 6"/>
          <p:cNvCxnSpPr/>
          <p:nvPr/>
        </p:nvCxnSpPr>
        <p:spPr>
          <a:xfrm rot="5400000" flipH="1" flipV="1">
            <a:off x="2919663" y="3898232"/>
            <a:ext cx="1379620" cy="705853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03788" y="1653304"/>
            <a:ext cx="3829096" cy="1908044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phase fluctuations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imperfect oscillators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constellation rotation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severely affecting high-order QAM.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10226482" y="6075680"/>
            <a:ext cx="1386398" cy="52832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Main Block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hlinkClick r:id="rId4" action="ppaction://hlinksldjump"/>
          </p:cNvPr>
          <p:cNvSpPr/>
          <p:nvPr/>
        </p:nvSpPr>
        <p:spPr>
          <a:xfrm>
            <a:off x="675907" y="4989095"/>
            <a:ext cx="912261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hlinkClick r:id="rId5" action="ppaction://hlinksldjump"/>
          </p:cNvPr>
          <p:cNvSpPr/>
          <p:nvPr/>
        </p:nvSpPr>
        <p:spPr>
          <a:xfrm>
            <a:off x="1806875" y="4989095"/>
            <a:ext cx="912261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hlinkClick r:id="rId6" action="ppaction://hlinksldjump"/>
          </p:cNvPr>
          <p:cNvSpPr/>
          <p:nvPr/>
        </p:nvSpPr>
        <p:spPr>
          <a:xfrm>
            <a:off x="2937844" y="4989095"/>
            <a:ext cx="591420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hlinkClick r:id="rId7" action="ppaction://hlinksldjump"/>
          </p:cNvPr>
          <p:cNvSpPr/>
          <p:nvPr/>
        </p:nvSpPr>
        <p:spPr>
          <a:xfrm>
            <a:off x="3747971" y="4989095"/>
            <a:ext cx="904239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hlinkClick r:id="rId8" action="ppaction://hlinksldjump"/>
          </p:cNvPr>
          <p:cNvSpPr/>
          <p:nvPr/>
        </p:nvSpPr>
        <p:spPr>
          <a:xfrm>
            <a:off x="5014025" y="4989095"/>
            <a:ext cx="793218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hlinkClick r:id="rId9" action="ppaction://hlinksldjump"/>
          </p:cNvPr>
          <p:cNvSpPr/>
          <p:nvPr/>
        </p:nvSpPr>
        <p:spPr>
          <a:xfrm>
            <a:off x="5984572" y="4989095"/>
            <a:ext cx="793218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hlinkClick r:id="rId10" action="ppaction://hlinksldjump"/>
          </p:cNvPr>
          <p:cNvSpPr/>
          <p:nvPr/>
        </p:nvSpPr>
        <p:spPr>
          <a:xfrm>
            <a:off x="498764" y="3277590"/>
            <a:ext cx="2733720" cy="1172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hlinkClick r:id="rId11" action="ppaction://hlinksldjump"/>
          </p:cNvPr>
          <p:cNvSpPr/>
          <p:nvPr/>
        </p:nvSpPr>
        <p:spPr>
          <a:xfrm>
            <a:off x="4370119" y="3277590"/>
            <a:ext cx="1876698" cy="1273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hlinkClick r:id="rId12" action="ppaction://hlinksldjump"/>
          </p:cNvPr>
          <p:cNvSpPr/>
          <p:nvPr/>
        </p:nvSpPr>
        <p:spPr>
          <a:xfrm>
            <a:off x="7384451" y="1901524"/>
            <a:ext cx="4470289" cy="3691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hlinkClick r:id="rId13" action="ppaction://hlinksldjump"/>
          </p:cNvPr>
          <p:cNvSpPr/>
          <p:nvPr/>
        </p:nvSpPr>
        <p:spPr>
          <a:xfrm>
            <a:off x="3529264" y="3598780"/>
            <a:ext cx="548640" cy="579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hlinkClick r:id="rId13" action="ppaction://hlinksldjump"/>
          </p:cNvPr>
          <p:cNvSpPr/>
          <p:nvPr/>
        </p:nvSpPr>
        <p:spPr>
          <a:xfrm>
            <a:off x="6450264" y="3431755"/>
            <a:ext cx="589280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783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5F8ACB-1876-AB7E-A170-C66EB31F7B5D}"/>
              </a:ext>
            </a:extLst>
          </p:cNvPr>
          <p:cNvSpPr txBox="1"/>
          <p:nvPr/>
        </p:nvSpPr>
        <p:spPr>
          <a:xfrm>
            <a:off x="944880" y="567363"/>
            <a:ext cx="1038352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Transmitter Block (with Impairments Blocks,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64-QAM)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1108" t="3841"/>
          <a:stretch/>
        </p:blipFill>
        <p:spPr bwMode="auto">
          <a:xfrm>
            <a:off x="318577" y="1800519"/>
            <a:ext cx="11636126" cy="38838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6" name="Elbow Connector 6"/>
          <p:cNvCxnSpPr/>
          <p:nvPr/>
        </p:nvCxnSpPr>
        <p:spPr>
          <a:xfrm rot="16200000" flipV="1">
            <a:off x="2759244" y="3513219"/>
            <a:ext cx="1604210" cy="1251287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03788" y="1653303"/>
            <a:ext cx="4226560" cy="16834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mismatch between transmitter and receiver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oscillator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frequencies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Breaks OFDM subcarrier orthogonality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inter-carrier interference (ICI)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10226482" y="6075680"/>
            <a:ext cx="1386398" cy="52832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Main Block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hlinkClick r:id="rId4" action="ppaction://hlinksldjump"/>
          </p:cNvPr>
          <p:cNvSpPr/>
          <p:nvPr/>
        </p:nvSpPr>
        <p:spPr>
          <a:xfrm>
            <a:off x="675907" y="4989095"/>
            <a:ext cx="912261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hlinkClick r:id="rId5" action="ppaction://hlinksldjump"/>
          </p:cNvPr>
          <p:cNvSpPr/>
          <p:nvPr/>
        </p:nvSpPr>
        <p:spPr>
          <a:xfrm>
            <a:off x="1806875" y="4989095"/>
            <a:ext cx="912261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hlinkClick r:id="rId6" action="ppaction://hlinksldjump"/>
          </p:cNvPr>
          <p:cNvSpPr/>
          <p:nvPr/>
        </p:nvSpPr>
        <p:spPr>
          <a:xfrm>
            <a:off x="2937844" y="4989095"/>
            <a:ext cx="591420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hlinkClick r:id="rId7" action="ppaction://hlinksldjump"/>
          </p:cNvPr>
          <p:cNvSpPr/>
          <p:nvPr/>
        </p:nvSpPr>
        <p:spPr>
          <a:xfrm>
            <a:off x="3747971" y="4989095"/>
            <a:ext cx="904239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hlinkClick r:id="rId8" action="ppaction://hlinksldjump"/>
          </p:cNvPr>
          <p:cNvSpPr/>
          <p:nvPr/>
        </p:nvSpPr>
        <p:spPr>
          <a:xfrm>
            <a:off x="5014025" y="4989095"/>
            <a:ext cx="793218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hlinkClick r:id="rId9" action="ppaction://hlinksldjump"/>
          </p:cNvPr>
          <p:cNvSpPr/>
          <p:nvPr/>
        </p:nvSpPr>
        <p:spPr>
          <a:xfrm>
            <a:off x="5984572" y="4989095"/>
            <a:ext cx="793218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hlinkClick r:id="rId10" action="ppaction://hlinksldjump"/>
          </p:cNvPr>
          <p:cNvSpPr/>
          <p:nvPr/>
        </p:nvSpPr>
        <p:spPr>
          <a:xfrm>
            <a:off x="498764" y="3277590"/>
            <a:ext cx="2733720" cy="1172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hlinkClick r:id="rId11" action="ppaction://hlinksldjump"/>
          </p:cNvPr>
          <p:cNvSpPr/>
          <p:nvPr/>
        </p:nvSpPr>
        <p:spPr>
          <a:xfrm>
            <a:off x="4370119" y="3277590"/>
            <a:ext cx="1876698" cy="1273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hlinkClick r:id="rId12" action="ppaction://hlinksldjump"/>
          </p:cNvPr>
          <p:cNvSpPr/>
          <p:nvPr/>
        </p:nvSpPr>
        <p:spPr>
          <a:xfrm>
            <a:off x="7384451" y="1901524"/>
            <a:ext cx="4470289" cy="3691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hlinkClick r:id="rId13" action="ppaction://hlinksldjump"/>
          </p:cNvPr>
          <p:cNvSpPr/>
          <p:nvPr/>
        </p:nvSpPr>
        <p:spPr>
          <a:xfrm>
            <a:off x="3529264" y="3598780"/>
            <a:ext cx="548640" cy="579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hlinkClick r:id="rId13" action="ppaction://hlinksldjump"/>
          </p:cNvPr>
          <p:cNvSpPr/>
          <p:nvPr/>
        </p:nvSpPr>
        <p:spPr>
          <a:xfrm>
            <a:off x="6450264" y="3431755"/>
            <a:ext cx="589280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543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5F8ACB-1876-AB7E-A170-C66EB31F7B5D}"/>
              </a:ext>
            </a:extLst>
          </p:cNvPr>
          <p:cNvSpPr txBox="1"/>
          <p:nvPr/>
        </p:nvSpPr>
        <p:spPr>
          <a:xfrm>
            <a:off x="944880" y="567363"/>
            <a:ext cx="1038352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Transmitter Block (with Impairments Blocks,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64-QAM)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1108" t="3841"/>
          <a:stretch/>
        </p:blipFill>
        <p:spPr bwMode="auto">
          <a:xfrm>
            <a:off x="318577" y="1800519"/>
            <a:ext cx="11636126" cy="38838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6" name="Elbow Connector 6"/>
          <p:cNvCxnSpPr/>
          <p:nvPr/>
        </p:nvCxnSpPr>
        <p:spPr>
          <a:xfrm rot="16200000" flipV="1">
            <a:off x="4748464" y="4203031"/>
            <a:ext cx="866274" cy="577515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299411" y="1090583"/>
            <a:ext cx="4716377" cy="2968069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RAYLEIGH FADING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multipath fading without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line-of-sight (NLOS)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urban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indoor environments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signals reflect and scatter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RICIAN FADING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multipath fading with a dominant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line-of-sight (LOS)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 represents scenarios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outdoor small cells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mmWave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links.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10226482" y="6075680"/>
            <a:ext cx="1386398" cy="52832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Main Block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hlinkClick r:id="rId4" action="ppaction://hlinksldjump"/>
          </p:cNvPr>
          <p:cNvSpPr/>
          <p:nvPr/>
        </p:nvSpPr>
        <p:spPr>
          <a:xfrm>
            <a:off x="675907" y="4989095"/>
            <a:ext cx="912261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hlinkClick r:id="rId5" action="ppaction://hlinksldjump"/>
          </p:cNvPr>
          <p:cNvSpPr/>
          <p:nvPr/>
        </p:nvSpPr>
        <p:spPr>
          <a:xfrm>
            <a:off x="1806875" y="4989095"/>
            <a:ext cx="912261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hlinkClick r:id="rId6" action="ppaction://hlinksldjump"/>
          </p:cNvPr>
          <p:cNvSpPr/>
          <p:nvPr/>
        </p:nvSpPr>
        <p:spPr>
          <a:xfrm>
            <a:off x="2937844" y="4989095"/>
            <a:ext cx="591420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hlinkClick r:id="rId7" action="ppaction://hlinksldjump"/>
          </p:cNvPr>
          <p:cNvSpPr/>
          <p:nvPr/>
        </p:nvSpPr>
        <p:spPr>
          <a:xfrm>
            <a:off x="3747971" y="4989095"/>
            <a:ext cx="904239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hlinkClick r:id="rId8" action="ppaction://hlinksldjump"/>
          </p:cNvPr>
          <p:cNvSpPr/>
          <p:nvPr/>
        </p:nvSpPr>
        <p:spPr>
          <a:xfrm>
            <a:off x="5014025" y="4989095"/>
            <a:ext cx="793218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hlinkClick r:id="rId9" action="ppaction://hlinksldjump"/>
          </p:cNvPr>
          <p:cNvSpPr/>
          <p:nvPr/>
        </p:nvSpPr>
        <p:spPr>
          <a:xfrm>
            <a:off x="5984572" y="4989095"/>
            <a:ext cx="793218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hlinkClick r:id="rId10" action="ppaction://hlinksldjump"/>
          </p:cNvPr>
          <p:cNvSpPr/>
          <p:nvPr/>
        </p:nvSpPr>
        <p:spPr>
          <a:xfrm>
            <a:off x="498764" y="3277590"/>
            <a:ext cx="2733720" cy="1172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hlinkClick r:id="rId11" action="ppaction://hlinksldjump"/>
          </p:cNvPr>
          <p:cNvSpPr/>
          <p:nvPr/>
        </p:nvSpPr>
        <p:spPr>
          <a:xfrm>
            <a:off x="4370119" y="3277590"/>
            <a:ext cx="1876698" cy="1273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hlinkClick r:id="rId12" action="ppaction://hlinksldjump"/>
          </p:cNvPr>
          <p:cNvSpPr/>
          <p:nvPr/>
        </p:nvSpPr>
        <p:spPr>
          <a:xfrm>
            <a:off x="7384451" y="1901524"/>
            <a:ext cx="4470289" cy="3691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hlinkClick r:id="rId13" action="ppaction://hlinksldjump"/>
          </p:cNvPr>
          <p:cNvSpPr/>
          <p:nvPr/>
        </p:nvSpPr>
        <p:spPr>
          <a:xfrm>
            <a:off x="3529264" y="3598780"/>
            <a:ext cx="548640" cy="579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hlinkClick r:id="rId13" action="ppaction://hlinksldjump"/>
          </p:cNvPr>
          <p:cNvSpPr/>
          <p:nvPr/>
        </p:nvSpPr>
        <p:spPr>
          <a:xfrm>
            <a:off x="6450264" y="3431755"/>
            <a:ext cx="589280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04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5F8ACB-1876-AB7E-A170-C66EB31F7B5D}"/>
              </a:ext>
            </a:extLst>
          </p:cNvPr>
          <p:cNvSpPr txBox="1"/>
          <p:nvPr/>
        </p:nvSpPr>
        <p:spPr>
          <a:xfrm>
            <a:off x="944880" y="567363"/>
            <a:ext cx="1038352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Transmitter Block (with Impairments Blocks,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64-QAM)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1108" t="3841"/>
          <a:stretch/>
        </p:blipFill>
        <p:spPr bwMode="auto">
          <a:xfrm>
            <a:off x="318577" y="1800519"/>
            <a:ext cx="11636126" cy="38838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6" name="Elbow Connector 6"/>
          <p:cNvCxnSpPr/>
          <p:nvPr/>
        </p:nvCxnSpPr>
        <p:spPr>
          <a:xfrm rot="16200000" flipV="1">
            <a:off x="4962305" y="3390177"/>
            <a:ext cx="1770090" cy="1427751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411705" y="1800519"/>
            <a:ext cx="4604083" cy="1418489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Gaussian noise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signal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noise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sets the baseline noise floor for performance evaluation.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10226482" y="6075680"/>
            <a:ext cx="1386398" cy="52832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Main Block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hlinkClick r:id="rId4" action="ppaction://hlinksldjump"/>
          </p:cNvPr>
          <p:cNvSpPr/>
          <p:nvPr/>
        </p:nvSpPr>
        <p:spPr>
          <a:xfrm>
            <a:off x="675907" y="4989095"/>
            <a:ext cx="912261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hlinkClick r:id="rId5" action="ppaction://hlinksldjump"/>
          </p:cNvPr>
          <p:cNvSpPr/>
          <p:nvPr/>
        </p:nvSpPr>
        <p:spPr>
          <a:xfrm>
            <a:off x="1806875" y="4989095"/>
            <a:ext cx="912261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hlinkClick r:id="rId6" action="ppaction://hlinksldjump"/>
          </p:cNvPr>
          <p:cNvSpPr/>
          <p:nvPr/>
        </p:nvSpPr>
        <p:spPr>
          <a:xfrm>
            <a:off x="2937844" y="4989095"/>
            <a:ext cx="591420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hlinkClick r:id="rId7" action="ppaction://hlinksldjump"/>
          </p:cNvPr>
          <p:cNvSpPr/>
          <p:nvPr/>
        </p:nvSpPr>
        <p:spPr>
          <a:xfrm>
            <a:off x="3747971" y="4989095"/>
            <a:ext cx="904239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hlinkClick r:id="rId8" action="ppaction://hlinksldjump"/>
          </p:cNvPr>
          <p:cNvSpPr/>
          <p:nvPr/>
        </p:nvSpPr>
        <p:spPr>
          <a:xfrm>
            <a:off x="5014025" y="4989095"/>
            <a:ext cx="793218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hlinkClick r:id="rId9" action="ppaction://hlinksldjump"/>
          </p:cNvPr>
          <p:cNvSpPr/>
          <p:nvPr/>
        </p:nvSpPr>
        <p:spPr>
          <a:xfrm>
            <a:off x="5984572" y="4989095"/>
            <a:ext cx="793218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hlinkClick r:id="rId10" action="ppaction://hlinksldjump"/>
          </p:cNvPr>
          <p:cNvSpPr/>
          <p:nvPr/>
        </p:nvSpPr>
        <p:spPr>
          <a:xfrm>
            <a:off x="498764" y="3277590"/>
            <a:ext cx="2733720" cy="1172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hlinkClick r:id="rId11" action="ppaction://hlinksldjump"/>
          </p:cNvPr>
          <p:cNvSpPr/>
          <p:nvPr/>
        </p:nvSpPr>
        <p:spPr>
          <a:xfrm>
            <a:off x="4370119" y="3277590"/>
            <a:ext cx="1876698" cy="1273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hlinkClick r:id="rId12" action="ppaction://hlinksldjump"/>
          </p:cNvPr>
          <p:cNvSpPr/>
          <p:nvPr/>
        </p:nvSpPr>
        <p:spPr>
          <a:xfrm>
            <a:off x="7384451" y="1901524"/>
            <a:ext cx="4470289" cy="3691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hlinkClick r:id="rId13" action="ppaction://hlinksldjump"/>
          </p:cNvPr>
          <p:cNvSpPr/>
          <p:nvPr/>
        </p:nvSpPr>
        <p:spPr>
          <a:xfrm>
            <a:off x="3529264" y="3598780"/>
            <a:ext cx="548640" cy="579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hlinkClick r:id="rId13" action="ppaction://hlinksldjump"/>
          </p:cNvPr>
          <p:cNvSpPr/>
          <p:nvPr/>
        </p:nvSpPr>
        <p:spPr>
          <a:xfrm>
            <a:off x="6450264" y="3431755"/>
            <a:ext cx="589280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86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73342" y="1679892"/>
            <a:ext cx="11976418" cy="45278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5F8ACB-1876-AB7E-A170-C66EB31F7B5D}"/>
              </a:ext>
            </a:extLst>
          </p:cNvPr>
          <p:cNvSpPr txBox="1"/>
          <p:nvPr/>
        </p:nvSpPr>
        <p:spPr>
          <a:xfrm>
            <a:off x="944880" y="567363"/>
            <a:ext cx="1038352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Transmitter Block (with Impairments + Suppression Blocks,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64-QAM)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Elbow Connector 6"/>
          <p:cNvCxnSpPr>
            <a:endCxn id="8" idx="1"/>
          </p:cNvCxnSpPr>
          <p:nvPr/>
        </p:nvCxnSpPr>
        <p:spPr>
          <a:xfrm>
            <a:off x="2021840" y="2956560"/>
            <a:ext cx="1926430" cy="1575818"/>
          </a:xfrm>
          <a:prstGeom prst="curvedConnector3">
            <a:avLst>
              <a:gd name="adj1" fmla="val 424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48270" y="3329703"/>
            <a:ext cx="5500529" cy="2405349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Corrects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amplitude and phase mismatch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In-phase (I) and Quadrature (Q) signals caused by RF hardware imperfections.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Restores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 orthogonality (90° phase difference)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between I and Q components.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quality and constellation accuracy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reducing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EVM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better demodulation</a:t>
            </a: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10226482" y="6075680"/>
            <a:ext cx="1386398" cy="52832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Main Block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hlinkClick r:id="rId4" action="ppaction://hlinksldjump"/>
          </p:cNvPr>
          <p:cNvSpPr/>
          <p:nvPr/>
        </p:nvSpPr>
        <p:spPr>
          <a:xfrm>
            <a:off x="1510097" y="2310063"/>
            <a:ext cx="1184977" cy="5775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hlinkClick r:id="rId5" action="ppaction://hlinksldjump"/>
          </p:cNvPr>
          <p:cNvSpPr/>
          <p:nvPr/>
        </p:nvSpPr>
        <p:spPr>
          <a:xfrm>
            <a:off x="4004644" y="2310063"/>
            <a:ext cx="1184977" cy="5775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hlinkClick r:id="rId6" action="ppaction://hlinksldjump"/>
          </p:cNvPr>
          <p:cNvSpPr/>
          <p:nvPr/>
        </p:nvSpPr>
        <p:spPr>
          <a:xfrm>
            <a:off x="320040" y="3348841"/>
            <a:ext cx="2898173" cy="14574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hlinkClick r:id="rId7" action="ppaction://hlinksldjump"/>
          </p:cNvPr>
          <p:cNvSpPr/>
          <p:nvPr/>
        </p:nvSpPr>
        <p:spPr>
          <a:xfrm>
            <a:off x="4226961" y="3348841"/>
            <a:ext cx="1925320" cy="1391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hlinkClick r:id="rId8" action="ppaction://hlinksldjump"/>
          </p:cNvPr>
          <p:cNvSpPr/>
          <p:nvPr/>
        </p:nvSpPr>
        <p:spPr>
          <a:xfrm>
            <a:off x="569029" y="5250205"/>
            <a:ext cx="912261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hlinkClick r:id="rId9" action="ppaction://hlinksldjump"/>
          </p:cNvPr>
          <p:cNvSpPr/>
          <p:nvPr/>
        </p:nvSpPr>
        <p:spPr>
          <a:xfrm>
            <a:off x="1699997" y="5250205"/>
            <a:ext cx="912261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hlinkClick r:id="rId10" action="ppaction://hlinksldjump"/>
          </p:cNvPr>
          <p:cNvSpPr/>
          <p:nvPr/>
        </p:nvSpPr>
        <p:spPr>
          <a:xfrm>
            <a:off x="2830966" y="5250205"/>
            <a:ext cx="591420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hlinkClick r:id="rId11" action="ppaction://hlinksldjump"/>
          </p:cNvPr>
          <p:cNvSpPr/>
          <p:nvPr/>
        </p:nvSpPr>
        <p:spPr>
          <a:xfrm>
            <a:off x="3641093" y="5250205"/>
            <a:ext cx="904239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hlinkClick r:id="rId12" action="ppaction://hlinksldjump"/>
          </p:cNvPr>
          <p:cNvSpPr/>
          <p:nvPr/>
        </p:nvSpPr>
        <p:spPr>
          <a:xfrm>
            <a:off x="4907147" y="5250205"/>
            <a:ext cx="793218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hlinkClick r:id="rId13" action="ppaction://hlinksldjump"/>
          </p:cNvPr>
          <p:cNvSpPr/>
          <p:nvPr/>
        </p:nvSpPr>
        <p:spPr>
          <a:xfrm>
            <a:off x="5877694" y="5250205"/>
            <a:ext cx="793218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hlinkClick r:id="rId14" action="ppaction://hlinksldjump"/>
          </p:cNvPr>
          <p:cNvSpPr/>
          <p:nvPr/>
        </p:nvSpPr>
        <p:spPr>
          <a:xfrm>
            <a:off x="3422386" y="3810222"/>
            <a:ext cx="548640" cy="579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hlinkClick r:id="rId14" action="ppaction://hlinksldjump"/>
          </p:cNvPr>
          <p:cNvSpPr/>
          <p:nvPr/>
        </p:nvSpPr>
        <p:spPr>
          <a:xfrm>
            <a:off x="6343386" y="3643197"/>
            <a:ext cx="589280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hlinkClick r:id="rId15" action="ppaction://hlinksldjump"/>
          </p:cNvPr>
          <p:cNvSpPr/>
          <p:nvPr/>
        </p:nvSpPr>
        <p:spPr>
          <a:xfrm>
            <a:off x="7351295" y="1797320"/>
            <a:ext cx="4479381" cy="40981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84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73342" y="1679892"/>
            <a:ext cx="11976418" cy="4527868"/>
          </a:xfrm>
          <a:prstGeom prst="rect">
            <a:avLst/>
          </a:prstGeom>
        </p:spPr>
      </p:pic>
      <p:cxnSp>
        <p:nvCxnSpPr>
          <p:cNvPr id="6" name="Elbow Connector 6"/>
          <p:cNvCxnSpPr/>
          <p:nvPr/>
        </p:nvCxnSpPr>
        <p:spPr>
          <a:xfrm>
            <a:off x="5262880" y="2397760"/>
            <a:ext cx="1463040" cy="931943"/>
          </a:xfrm>
          <a:prstGeom prst="curvedConnector3">
            <a:avLst>
              <a:gd name="adj1" fmla="val 100694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48271" y="3329703"/>
            <a:ext cx="5073810" cy="2573257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Corrects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carrier frequency and phase offsets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transmitter and receiver signals.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Aligns the received signal with the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oscillator reference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accurate demodulation.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errors and constellation rotation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improving symbol detection and lowering EVM</a:t>
            </a: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5F8ACB-1876-AB7E-A170-C66EB31F7B5D}"/>
              </a:ext>
            </a:extLst>
          </p:cNvPr>
          <p:cNvSpPr txBox="1"/>
          <p:nvPr/>
        </p:nvSpPr>
        <p:spPr>
          <a:xfrm>
            <a:off x="944880" y="567363"/>
            <a:ext cx="1038352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Transmitter Block (with Impairments + Suppression Blocks,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64-QAM)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10226482" y="6075680"/>
            <a:ext cx="1386398" cy="52832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Main Block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hlinkClick r:id="rId4" action="ppaction://hlinksldjump"/>
          </p:cNvPr>
          <p:cNvSpPr/>
          <p:nvPr/>
        </p:nvSpPr>
        <p:spPr>
          <a:xfrm>
            <a:off x="1510097" y="2310063"/>
            <a:ext cx="1184977" cy="5775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hlinkClick r:id="rId5" action="ppaction://hlinksldjump"/>
          </p:cNvPr>
          <p:cNvSpPr/>
          <p:nvPr/>
        </p:nvSpPr>
        <p:spPr>
          <a:xfrm>
            <a:off x="4004644" y="2310063"/>
            <a:ext cx="1184977" cy="5775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hlinkClick r:id="rId6" action="ppaction://hlinksldjump"/>
          </p:cNvPr>
          <p:cNvSpPr/>
          <p:nvPr/>
        </p:nvSpPr>
        <p:spPr>
          <a:xfrm>
            <a:off x="320040" y="3348841"/>
            <a:ext cx="2898173" cy="14574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hlinkClick r:id="rId7" action="ppaction://hlinksldjump"/>
          </p:cNvPr>
          <p:cNvSpPr/>
          <p:nvPr/>
        </p:nvSpPr>
        <p:spPr>
          <a:xfrm>
            <a:off x="4226961" y="3348841"/>
            <a:ext cx="1925320" cy="1391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hlinkClick r:id="rId8" action="ppaction://hlinksldjump"/>
          </p:cNvPr>
          <p:cNvSpPr/>
          <p:nvPr/>
        </p:nvSpPr>
        <p:spPr>
          <a:xfrm>
            <a:off x="569029" y="5250205"/>
            <a:ext cx="912261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hlinkClick r:id="rId9" action="ppaction://hlinksldjump"/>
          </p:cNvPr>
          <p:cNvSpPr/>
          <p:nvPr/>
        </p:nvSpPr>
        <p:spPr>
          <a:xfrm>
            <a:off x="1699997" y="5250205"/>
            <a:ext cx="912261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hlinkClick r:id="rId10" action="ppaction://hlinksldjump"/>
          </p:cNvPr>
          <p:cNvSpPr/>
          <p:nvPr/>
        </p:nvSpPr>
        <p:spPr>
          <a:xfrm>
            <a:off x="2830966" y="5250205"/>
            <a:ext cx="591420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hlinkClick r:id="rId11" action="ppaction://hlinksldjump"/>
          </p:cNvPr>
          <p:cNvSpPr/>
          <p:nvPr/>
        </p:nvSpPr>
        <p:spPr>
          <a:xfrm>
            <a:off x="3641093" y="5250205"/>
            <a:ext cx="904239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hlinkClick r:id="rId12" action="ppaction://hlinksldjump"/>
          </p:cNvPr>
          <p:cNvSpPr/>
          <p:nvPr/>
        </p:nvSpPr>
        <p:spPr>
          <a:xfrm>
            <a:off x="4907147" y="5250205"/>
            <a:ext cx="793218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hlinkClick r:id="rId13" action="ppaction://hlinksldjump"/>
          </p:cNvPr>
          <p:cNvSpPr/>
          <p:nvPr/>
        </p:nvSpPr>
        <p:spPr>
          <a:xfrm>
            <a:off x="5877694" y="5250205"/>
            <a:ext cx="793218" cy="44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hlinkClick r:id="rId14" action="ppaction://hlinksldjump"/>
          </p:cNvPr>
          <p:cNvSpPr/>
          <p:nvPr/>
        </p:nvSpPr>
        <p:spPr>
          <a:xfrm>
            <a:off x="3422386" y="3810222"/>
            <a:ext cx="548640" cy="579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hlinkClick r:id="rId14" action="ppaction://hlinksldjump"/>
          </p:cNvPr>
          <p:cNvSpPr/>
          <p:nvPr/>
        </p:nvSpPr>
        <p:spPr>
          <a:xfrm>
            <a:off x="6343386" y="3643197"/>
            <a:ext cx="589280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hlinkClick r:id="rId15" action="ppaction://hlinksldjump"/>
          </p:cNvPr>
          <p:cNvSpPr/>
          <p:nvPr/>
        </p:nvSpPr>
        <p:spPr>
          <a:xfrm>
            <a:off x="7351295" y="1797320"/>
            <a:ext cx="4479381" cy="40981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350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4098</TotalTime>
  <Words>3188</Words>
  <Application>Microsoft Office PowerPoint</Application>
  <PresentationFormat>Widescreen</PresentationFormat>
  <Paragraphs>405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Times New Roman</vt:lpstr>
      <vt:lpstr>Wingdings</vt:lpstr>
      <vt:lpstr>Office Theme</vt:lpstr>
      <vt:lpstr>Performance Analysis of 5G New Radio (5G NR) Transmitter Models Using QAM Modulation Schemes</vt:lpstr>
      <vt:lpstr>Outline: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Energy Efficient and Reliable Underwater Acoustic Communication Using NOMA Based Protocols</dc:title>
  <dc:creator>Goutham Veerapu</dc:creator>
  <cp:lastModifiedBy>HP</cp:lastModifiedBy>
  <cp:revision>196</cp:revision>
  <cp:lastPrinted>2025-11-03T09:35:22Z</cp:lastPrinted>
  <dcterms:created xsi:type="dcterms:W3CDTF">2025-07-14T15:30:28Z</dcterms:created>
  <dcterms:modified xsi:type="dcterms:W3CDTF">2026-04-18T22:05:47Z</dcterms:modified>
</cp:coreProperties>
</file>